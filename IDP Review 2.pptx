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2"/>
  </p:notesMasterIdLst>
  <p:sldIdLst>
    <p:sldId id="256" r:id="rId2"/>
    <p:sldId id="257" r:id="rId3"/>
    <p:sldId id="260" r:id="rId4"/>
    <p:sldId id="266" r:id="rId5"/>
    <p:sldId id="258" r:id="rId6"/>
    <p:sldId id="263" r:id="rId7"/>
    <p:sldId id="259" r:id="rId8"/>
    <p:sldId id="268" r:id="rId9"/>
    <p:sldId id="267" r:id="rId10"/>
    <p:sldId id="264" r:id="rId1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CC"/>
    <a:srgbClr val="FFFFFF"/>
    <a:srgbClr val="7FFDB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57C72ED-C450-4F7F-8161-CB2425E014D0}">
  <a:tblStyle styleId="{E57C72ED-C450-4F7F-8161-CB2425E014D0}"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5" name="Google Shape;15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a:extLst>
            <a:ext uri="{FF2B5EF4-FFF2-40B4-BE49-F238E27FC236}">
              <a16:creationId xmlns:a16="http://schemas.microsoft.com/office/drawing/2014/main" id="{7D078E93-F745-A666-3B0C-DDEC18F55A1C}"/>
            </a:ext>
          </a:extLst>
        </p:cNvPr>
        <p:cNvGrpSpPr/>
        <p:nvPr/>
      </p:nvGrpSpPr>
      <p:grpSpPr>
        <a:xfrm>
          <a:off x="0" y="0"/>
          <a:ext cx="0" cy="0"/>
          <a:chOff x="0" y="0"/>
          <a:chExt cx="0" cy="0"/>
        </a:xfrm>
      </p:grpSpPr>
      <p:sp>
        <p:nvSpPr>
          <p:cNvPr id="154" name="Google Shape;154;p5:notes">
            <a:extLst>
              <a:ext uri="{FF2B5EF4-FFF2-40B4-BE49-F238E27FC236}">
                <a16:creationId xmlns:a16="http://schemas.microsoft.com/office/drawing/2014/main" id="{7A43ECE6-6FB0-2EC4-7A9C-AED31904756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5" name="Google Shape;155;p5:notes">
            <a:extLst>
              <a:ext uri="{FF2B5EF4-FFF2-40B4-BE49-F238E27FC236}">
                <a16:creationId xmlns:a16="http://schemas.microsoft.com/office/drawing/2014/main" id="{48B096C1-AB90-475F-B2B6-B5FBAF72C8E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41088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7" name="Google Shape;11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5" name="Google Shape;215;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2" name="Google Shape;13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a:extLst>
            <a:ext uri="{FF2B5EF4-FFF2-40B4-BE49-F238E27FC236}">
              <a16:creationId xmlns:a16="http://schemas.microsoft.com/office/drawing/2014/main" id="{9CA43F73-A50E-39E6-A1DC-CD6AE6CBD490}"/>
            </a:ext>
          </a:extLst>
        </p:cNvPr>
        <p:cNvGrpSpPr/>
        <p:nvPr/>
      </p:nvGrpSpPr>
      <p:grpSpPr>
        <a:xfrm>
          <a:off x="0" y="0"/>
          <a:ext cx="0" cy="0"/>
          <a:chOff x="0" y="0"/>
          <a:chExt cx="0" cy="0"/>
        </a:xfrm>
      </p:grpSpPr>
      <p:sp>
        <p:nvSpPr>
          <p:cNvPr id="131" name="Google Shape;131;p4:notes">
            <a:extLst>
              <a:ext uri="{FF2B5EF4-FFF2-40B4-BE49-F238E27FC236}">
                <a16:creationId xmlns:a16="http://schemas.microsoft.com/office/drawing/2014/main" id="{A4D929CF-349C-39DD-E836-4DDC9F3838A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2" name="Google Shape;132;p4:notes">
            <a:extLst>
              <a:ext uri="{FF2B5EF4-FFF2-40B4-BE49-F238E27FC236}">
                <a16:creationId xmlns:a16="http://schemas.microsoft.com/office/drawing/2014/main" id="{7EBC5993-8C9B-9BD5-8DED-48E06D5291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954101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a:extLst>
            <a:ext uri="{FF2B5EF4-FFF2-40B4-BE49-F238E27FC236}">
              <a16:creationId xmlns:a16="http://schemas.microsoft.com/office/drawing/2014/main" id="{5D5964E8-910C-6087-EDE8-82A1FA8A2BE5}"/>
            </a:ext>
          </a:extLst>
        </p:cNvPr>
        <p:cNvGrpSpPr/>
        <p:nvPr/>
      </p:nvGrpSpPr>
      <p:grpSpPr>
        <a:xfrm>
          <a:off x="0" y="0"/>
          <a:ext cx="0" cy="0"/>
          <a:chOff x="0" y="0"/>
          <a:chExt cx="0" cy="0"/>
        </a:xfrm>
      </p:grpSpPr>
      <p:sp>
        <p:nvSpPr>
          <p:cNvPr id="131" name="Google Shape;131;p4:notes">
            <a:extLst>
              <a:ext uri="{FF2B5EF4-FFF2-40B4-BE49-F238E27FC236}">
                <a16:creationId xmlns:a16="http://schemas.microsoft.com/office/drawing/2014/main" id="{E28A56AE-0499-1F2B-2A9E-C6747ADF986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2" name="Google Shape;132;p4:notes">
            <a:extLst>
              <a:ext uri="{FF2B5EF4-FFF2-40B4-BE49-F238E27FC236}">
                <a16:creationId xmlns:a16="http://schemas.microsoft.com/office/drawing/2014/main" id="{43809BBD-F4AE-E9A7-D2F7-03B52A3E717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387923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9" name="Google Shape;23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Shape 83"/>
        <p:cNvGrpSpPr/>
        <p:nvPr/>
      </p:nvGrpSpPr>
      <p:grpSpPr>
        <a:xfrm>
          <a:off x="0" y="0"/>
          <a:ext cx="0" cy="0"/>
          <a:chOff x="0" y="0"/>
          <a:chExt cx="0" cy="0"/>
        </a:xfrm>
      </p:grpSpPr>
      <p:sp>
        <p:nvSpPr>
          <p:cNvPr id="87" name="Google Shape;87;p13"/>
          <p:cNvSpPr txBox="1"/>
          <p:nvPr/>
        </p:nvSpPr>
        <p:spPr>
          <a:xfrm>
            <a:off x="1060028" y="734908"/>
            <a:ext cx="9934292" cy="1354217"/>
          </a:xfrm>
          <a:prstGeom prst="rect">
            <a:avLst/>
          </a:prstGeom>
          <a:noFill/>
          <a:ln>
            <a:noFill/>
          </a:ln>
        </p:spPr>
        <p:txBody>
          <a:bodyPr spcFirstLastPara="1" wrap="square" lIns="0" tIns="0" rIns="0" bIns="0" anchor="t" anchorCtr="0">
            <a:spAutoFit/>
          </a:bodyPr>
          <a:lstStyle/>
          <a:p>
            <a:pPr marL="0" marR="0" lvl="0" indent="0" algn="ctr" rtl="0">
              <a:lnSpc>
                <a:spcPct val="109980"/>
              </a:lnSpc>
              <a:spcBef>
                <a:spcPts val="0"/>
              </a:spcBef>
              <a:spcAft>
                <a:spcPts val="0"/>
              </a:spcAft>
              <a:buNone/>
            </a:pPr>
            <a:r>
              <a:rPr lang="en-US" sz="4000" b="1" i="0" u="none" strike="noStrike" cap="none" dirty="0">
                <a:solidFill>
                  <a:srgbClr val="00FFCC"/>
                </a:solidFill>
                <a:latin typeface="+mj-lt"/>
                <a:ea typeface="Arial"/>
                <a:cs typeface="Arial"/>
                <a:sym typeface="Arial"/>
              </a:rPr>
              <a:t>Digital Twin-Enabled</a:t>
            </a:r>
            <a:r>
              <a:rPr lang="en-IN" sz="4000" b="1" i="0" u="none" strike="noStrike" cap="none" dirty="0">
                <a:solidFill>
                  <a:srgbClr val="00FFCC"/>
                </a:solidFill>
                <a:latin typeface="+mj-lt"/>
                <a:ea typeface="Arial"/>
                <a:cs typeface="Arial"/>
                <a:sym typeface="Calibri"/>
              </a:rPr>
              <a:t> </a:t>
            </a:r>
          </a:p>
          <a:p>
            <a:pPr marL="0" marR="0" lvl="0" indent="0" algn="ctr" rtl="0">
              <a:lnSpc>
                <a:spcPct val="109980"/>
              </a:lnSpc>
              <a:spcBef>
                <a:spcPts val="0"/>
              </a:spcBef>
              <a:spcAft>
                <a:spcPts val="0"/>
              </a:spcAft>
              <a:buNone/>
            </a:pPr>
            <a:r>
              <a:rPr lang="en-US" sz="4000" b="1" i="0" u="none" strike="noStrike" cap="none" dirty="0">
                <a:solidFill>
                  <a:srgbClr val="00FFCC"/>
                </a:solidFill>
                <a:latin typeface="+mj-lt"/>
                <a:ea typeface="Arial"/>
                <a:cs typeface="Arial"/>
                <a:sym typeface="Arial"/>
              </a:rPr>
              <a:t>Autonomous</a:t>
            </a:r>
            <a:r>
              <a:rPr lang="en-IN" sz="4000" dirty="0">
                <a:solidFill>
                  <a:srgbClr val="00FFCC"/>
                </a:solidFill>
                <a:latin typeface="+mj-lt"/>
                <a:sym typeface="Calibri"/>
              </a:rPr>
              <a:t> </a:t>
            </a:r>
            <a:r>
              <a:rPr lang="en-US" sz="4000" b="1" i="0" u="none" strike="noStrike" cap="none" dirty="0">
                <a:solidFill>
                  <a:srgbClr val="00FFCC"/>
                </a:solidFill>
                <a:latin typeface="+mj-lt"/>
                <a:ea typeface="Arial"/>
                <a:cs typeface="Arial"/>
                <a:sym typeface="Arial"/>
              </a:rPr>
              <a:t>Agricultural Rove</a:t>
            </a:r>
            <a:r>
              <a:rPr lang="en-IN" sz="4000" b="1" i="0" u="none" strike="noStrike" cap="none" dirty="0">
                <a:solidFill>
                  <a:srgbClr val="00FFCC"/>
                </a:solidFill>
                <a:latin typeface="+mj-lt"/>
                <a:ea typeface="Arial"/>
                <a:cs typeface="Arial"/>
                <a:sym typeface="Arial"/>
              </a:rPr>
              <a:t>r</a:t>
            </a:r>
            <a:endParaRPr sz="4000" dirty="0">
              <a:solidFill>
                <a:srgbClr val="00FFCC"/>
              </a:solidFill>
              <a:latin typeface="+mj-lt"/>
            </a:endParaRPr>
          </a:p>
        </p:txBody>
      </p:sp>
      <p:sp>
        <p:nvSpPr>
          <p:cNvPr id="88" name="Google Shape;88;p13"/>
          <p:cNvSpPr txBox="1"/>
          <p:nvPr/>
        </p:nvSpPr>
        <p:spPr>
          <a:xfrm>
            <a:off x="546769" y="2441019"/>
            <a:ext cx="10560804" cy="415498"/>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IN" sz="2700" b="1" i="0" u="none" strike="noStrike" cap="none" dirty="0">
                <a:solidFill>
                  <a:srgbClr val="FFFFFF"/>
                </a:solidFill>
                <a:latin typeface="Times New Roman"/>
                <a:ea typeface="Times New Roman"/>
                <a:cs typeface="Times New Roman"/>
                <a:sym typeface="Times New Roman"/>
              </a:rPr>
              <a:t>For </a:t>
            </a:r>
            <a:r>
              <a:rPr lang="en-US" sz="2700" b="1" i="0" u="none" strike="noStrike" cap="none" dirty="0">
                <a:solidFill>
                  <a:srgbClr val="FFFFFF"/>
                </a:solidFill>
                <a:latin typeface="Times New Roman"/>
                <a:ea typeface="Times New Roman"/>
                <a:cs typeface="Times New Roman"/>
                <a:sym typeface="Times New Roman"/>
              </a:rPr>
              <a:t>Precision </a:t>
            </a:r>
            <a:r>
              <a:rPr lang="en-IN" sz="2700" b="1" i="0" u="none" strike="noStrike" cap="none" dirty="0">
                <a:solidFill>
                  <a:srgbClr val="FFFFFF"/>
                </a:solidFill>
                <a:latin typeface="Times New Roman"/>
                <a:ea typeface="Times New Roman"/>
                <a:cs typeface="Times New Roman"/>
                <a:sym typeface="Times New Roman"/>
              </a:rPr>
              <a:t>Agriculture </a:t>
            </a:r>
            <a:r>
              <a:rPr lang="en-US" sz="2700" b="1" dirty="0">
                <a:solidFill>
                  <a:srgbClr val="FFFFFF"/>
                </a:solidFill>
                <a:latin typeface="Times New Roman"/>
                <a:ea typeface="Times New Roman"/>
                <a:cs typeface="Times New Roman"/>
                <a:sym typeface="Times New Roman"/>
              </a:rPr>
              <a:t>and</a:t>
            </a:r>
            <a:r>
              <a:rPr lang="en-US" sz="2700" b="1" i="0" u="none" strike="noStrike" cap="none" dirty="0">
                <a:solidFill>
                  <a:srgbClr val="FFFFFF"/>
                </a:solidFill>
                <a:latin typeface="Times New Roman"/>
                <a:ea typeface="Times New Roman"/>
                <a:cs typeface="Times New Roman"/>
                <a:sym typeface="Times New Roman"/>
              </a:rPr>
              <a:t> Spatial </a:t>
            </a:r>
            <a:r>
              <a:rPr lang="en-US" sz="2700" b="1" i="0" u="none" strike="noStrike" cap="none" dirty="0" err="1">
                <a:solidFill>
                  <a:srgbClr val="FFFFFF"/>
                </a:solidFill>
                <a:latin typeface="Times New Roman"/>
                <a:ea typeface="Times New Roman"/>
                <a:cs typeface="Times New Roman"/>
                <a:sym typeface="Times New Roman"/>
              </a:rPr>
              <a:t>Telemetr</a:t>
            </a:r>
            <a:r>
              <a:rPr lang="en-IN" sz="2700" b="1" i="0" u="none" strike="noStrike" cap="none" dirty="0">
                <a:solidFill>
                  <a:srgbClr val="FFFFFF"/>
                </a:solidFill>
                <a:latin typeface="Times New Roman"/>
                <a:ea typeface="Times New Roman"/>
                <a:cs typeface="Times New Roman"/>
                <a:sym typeface="Times New Roman"/>
              </a:rPr>
              <a:t>y</a:t>
            </a:r>
            <a:endParaRPr sz="2700" b="1" dirty="0"/>
          </a:p>
        </p:txBody>
      </p:sp>
      <p:sp>
        <p:nvSpPr>
          <p:cNvPr id="2" name="TextBox 1">
            <a:extLst>
              <a:ext uri="{FF2B5EF4-FFF2-40B4-BE49-F238E27FC236}">
                <a16:creationId xmlns:a16="http://schemas.microsoft.com/office/drawing/2014/main" id="{12D95392-3103-A479-CAF3-FF6105705AF5}"/>
              </a:ext>
            </a:extLst>
          </p:cNvPr>
          <p:cNvSpPr txBox="1"/>
          <p:nvPr/>
        </p:nvSpPr>
        <p:spPr>
          <a:xfrm>
            <a:off x="701793" y="3549200"/>
            <a:ext cx="5745655" cy="1446550"/>
          </a:xfrm>
          <a:prstGeom prst="rect">
            <a:avLst/>
          </a:prstGeom>
          <a:noFill/>
        </p:spPr>
        <p:txBody>
          <a:bodyPr wrap="square" rtlCol="0">
            <a:spAutoFit/>
          </a:bodyPr>
          <a:lstStyle/>
          <a:p>
            <a:pPr algn="l"/>
            <a:r>
              <a:rPr lang="en-IN" sz="2200" b="1" dirty="0">
                <a:solidFill>
                  <a:schemeClr val="bg1"/>
                </a:solidFill>
              </a:rPr>
              <a:t>Team members: </a:t>
            </a:r>
          </a:p>
          <a:p>
            <a:pPr algn="l"/>
            <a:r>
              <a:rPr lang="en-IN" sz="2200" dirty="0">
                <a:solidFill>
                  <a:schemeClr val="bg1"/>
                </a:solidFill>
              </a:rPr>
              <a:t>Chittesh D 25BRS1255</a:t>
            </a:r>
          </a:p>
          <a:p>
            <a:pPr algn="l"/>
            <a:r>
              <a:rPr lang="en-IN" sz="2200" dirty="0" err="1">
                <a:solidFill>
                  <a:schemeClr val="bg1"/>
                </a:solidFill>
              </a:rPr>
              <a:t>Anamithra</a:t>
            </a:r>
            <a:r>
              <a:rPr lang="en-IN" sz="2200" dirty="0">
                <a:solidFill>
                  <a:schemeClr val="bg1"/>
                </a:solidFill>
              </a:rPr>
              <a:t> Govindarajan 25BRS1291</a:t>
            </a:r>
          </a:p>
          <a:p>
            <a:pPr algn="l"/>
            <a:r>
              <a:rPr lang="en-IN" sz="2200" dirty="0" err="1">
                <a:solidFill>
                  <a:schemeClr val="bg1"/>
                </a:solidFill>
              </a:rPr>
              <a:t>Ramyashri</a:t>
            </a:r>
            <a:r>
              <a:rPr lang="en-IN" sz="2200" dirty="0">
                <a:solidFill>
                  <a:schemeClr val="bg1"/>
                </a:solidFill>
              </a:rPr>
              <a:t> S 25BRS1144</a:t>
            </a:r>
          </a:p>
        </p:txBody>
      </p:sp>
      <p:sp>
        <p:nvSpPr>
          <p:cNvPr id="6" name="TextBox 5">
            <a:extLst>
              <a:ext uri="{FF2B5EF4-FFF2-40B4-BE49-F238E27FC236}">
                <a16:creationId xmlns:a16="http://schemas.microsoft.com/office/drawing/2014/main" id="{93AC971B-8914-7BD1-E966-ACA10AD7BB0A}"/>
              </a:ext>
            </a:extLst>
          </p:cNvPr>
          <p:cNvSpPr txBox="1"/>
          <p:nvPr/>
        </p:nvSpPr>
        <p:spPr>
          <a:xfrm>
            <a:off x="6447448" y="3549200"/>
            <a:ext cx="5384375" cy="1631216"/>
          </a:xfrm>
          <a:prstGeom prst="rect">
            <a:avLst/>
          </a:prstGeom>
          <a:noFill/>
        </p:spPr>
        <p:txBody>
          <a:bodyPr wrap="square" rtlCol="0">
            <a:spAutoFit/>
          </a:bodyPr>
          <a:lstStyle/>
          <a:p>
            <a:pPr algn="l"/>
            <a:r>
              <a:rPr lang="en-IN" sz="2000" dirty="0">
                <a:solidFill>
                  <a:schemeClr val="bg1"/>
                </a:solidFill>
              </a:rPr>
              <a:t>Towards submission of</a:t>
            </a:r>
          </a:p>
          <a:p>
            <a:pPr algn="l"/>
            <a:r>
              <a:rPr lang="en-IN" sz="2000" b="1" dirty="0">
                <a:solidFill>
                  <a:schemeClr val="bg1"/>
                </a:solidFill>
              </a:rPr>
              <a:t>Innovative Design Project (BACSE291)</a:t>
            </a:r>
          </a:p>
          <a:p>
            <a:pPr algn="l"/>
            <a:r>
              <a:rPr lang="en-IN" sz="2000" dirty="0">
                <a:solidFill>
                  <a:schemeClr val="bg1"/>
                </a:solidFill>
              </a:rPr>
              <a:t>Under</a:t>
            </a:r>
          </a:p>
          <a:p>
            <a:pPr algn="l"/>
            <a:r>
              <a:rPr lang="en-IN" sz="2000" b="1" dirty="0">
                <a:solidFill>
                  <a:schemeClr val="bg1"/>
                </a:solidFill>
              </a:rPr>
              <a:t>Prof. Vergin Raja </a:t>
            </a:r>
            <a:r>
              <a:rPr lang="en-IN" sz="2000" b="1" dirty="0" err="1">
                <a:solidFill>
                  <a:schemeClr val="bg1"/>
                </a:solidFill>
              </a:rPr>
              <a:t>Sarobin</a:t>
            </a:r>
            <a:r>
              <a:rPr lang="en-IN" sz="2000" b="1" dirty="0">
                <a:solidFill>
                  <a:schemeClr val="bg1"/>
                </a:solidFill>
              </a:rPr>
              <a:t> M (50138)</a:t>
            </a:r>
            <a:br>
              <a:rPr lang="en-IN" sz="2000" b="1" dirty="0">
                <a:solidFill>
                  <a:schemeClr val="bg1"/>
                </a:solidFill>
              </a:rPr>
            </a:br>
            <a:endParaRPr lang="en-US" sz="2000" b="1" dirty="0">
              <a:solidFill>
                <a:schemeClr val="bg1"/>
              </a:solidFill>
            </a:endParaRPr>
          </a:p>
        </p:txBody>
      </p:sp>
      <p:sp>
        <p:nvSpPr>
          <p:cNvPr id="7" name="TextBox 6">
            <a:extLst>
              <a:ext uri="{FF2B5EF4-FFF2-40B4-BE49-F238E27FC236}">
                <a16:creationId xmlns:a16="http://schemas.microsoft.com/office/drawing/2014/main" id="{DF6DE9DB-D64A-E987-18E3-8A2CD5C8F70B}"/>
              </a:ext>
            </a:extLst>
          </p:cNvPr>
          <p:cNvSpPr txBox="1"/>
          <p:nvPr/>
        </p:nvSpPr>
        <p:spPr>
          <a:xfrm>
            <a:off x="701793" y="5463060"/>
            <a:ext cx="10624969" cy="400110"/>
          </a:xfrm>
          <a:prstGeom prst="rect">
            <a:avLst/>
          </a:prstGeom>
          <a:noFill/>
        </p:spPr>
        <p:txBody>
          <a:bodyPr wrap="square" rtlCol="0">
            <a:spAutoFit/>
          </a:bodyPr>
          <a:lstStyle/>
          <a:p>
            <a:r>
              <a:rPr lang="en-IN" sz="2000" b="1" dirty="0">
                <a:solidFill>
                  <a:schemeClr val="bg1"/>
                </a:solidFill>
              </a:rPr>
              <a:t>Repository Link </a:t>
            </a:r>
            <a:r>
              <a:rPr lang="en-IN" sz="2000" dirty="0">
                <a:solidFill>
                  <a:schemeClr val="bg1"/>
                </a:solidFill>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Shape 94"/>
        <p:cNvGrpSpPr/>
        <p:nvPr/>
      </p:nvGrpSpPr>
      <p:grpSpPr>
        <a:xfrm>
          <a:off x="0" y="0"/>
          <a:ext cx="0" cy="0"/>
          <a:chOff x="0" y="0"/>
          <a:chExt cx="0" cy="0"/>
        </a:xfrm>
      </p:grpSpPr>
      <p:pic>
        <p:nvPicPr>
          <p:cNvPr id="96" name="Google Shape;96;p14" descr="image.png"/>
          <p:cNvPicPr preferRelativeResize="0"/>
          <p:nvPr/>
        </p:nvPicPr>
        <p:blipFill rotWithShape="1">
          <a:blip r:embed="rId3">
            <a:alphaModFix/>
          </a:blip>
          <a:srcRect/>
          <a:stretch/>
        </p:blipFill>
        <p:spPr>
          <a:xfrm>
            <a:off x="346332" y="1360140"/>
            <a:ext cx="3457575" cy="5109486"/>
          </a:xfrm>
          <a:prstGeom prst="rect">
            <a:avLst/>
          </a:prstGeom>
          <a:noFill/>
          <a:ln>
            <a:noFill/>
          </a:ln>
        </p:spPr>
      </p:pic>
      <p:pic>
        <p:nvPicPr>
          <p:cNvPr id="97" name="Google Shape;97;p14" descr="image.png"/>
          <p:cNvPicPr preferRelativeResize="0"/>
          <p:nvPr/>
        </p:nvPicPr>
        <p:blipFill rotWithShape="1">
          <a:blip r:embed="rId4">
            <a:alphaModFix/>
          </a:blip>
          <a:srcRect/>
          <a:stretch/>
        </p:blipFill>
        <p:spPr>
          <a:xfrm>
            <a:off x="4352925" y="1360140"/>
            <a:ext cx="3507478" cy="5109486"/>
          </a:xfrm>
          <a:prstGeom prst="rect">
            <a:avLst/>
          </a:prstGeom>
          <a:noFill/>
          <a:ln>
            <a:noFill/>
          </a:ln>
        </p:spPr>
      </p:pic>
      <p:pic>
        <p:nvPicPr>
          <p:cNvPr id="98" name="Google Shape;98;p14" descr="image.png"/>
          <p:cNvPicPr preferRelativeResize="0"/>
          <p:nvPr/>
        </p:nvPicPr>
        <p:blipFill rotWithShape="1">
          <a:blip r:embed="rId5">
            <a:alphaModFix/>
          </a:blip>
          <a:srcRect/>
          <a:stretch/>
        </p:blipFill>
        <p:spPr>
          <a:xfrm>
            <a:off x="8330942" y="1360140"/>
            <a:ext cx="3429000" cy="5109486"/>
          </a:xfrm>
          <a:prstGeom prst="rect">
            <a:avLst/>
          </a:prstGeom>
          <a:noFill/>
          <a:ln>
            <a:noFill/>
          </a:ln>
        </p:spPr>
      </p:pic>
      <p:pic>
        <p:nvPicPr>
          <p:cNvPr id="99" name="Google Shape;99;p14" descr="image.png"/>
          <p:cNvPicPr preferRelativeResize="0"/>
          <p:nvPr/>
        </p:nvPicPr>
        <p:blipFill rotWithShape="1">
          <a:blip r:embed="rId6">
            <a:alphaModFix/>
          </a:blip>
          <a:srcRect/>
          <a:stretch/>
        </p:blipFill>
        <p:spPr>
          <a:xfrm>
            <a:off x="1047373" y="1745098"/>
            <a:ext cx="869295" cy="662792"/>
          </a:xfrm>
          <a:prstGeom prst="rect">
            <a:avLst/>
          </a:prstGeom>
          <a:noFill/>
          <a:ln>
            <a:noFill/>
          </a:ln>
        </p:spPr>
      </p:pic>
      <p:sp>
        <p:nvSpPr>
          <p:cNvPr id="100" name="Google Shape;100;p14"/>
          <p:cNvSpPr txBox="1"/>
          <p:nvPr/>
        </p:nvSpPr>
        <p:spPr>
          <a:xfrm>
            <a:off x="780668" y="2693085"/>
            <a:ext cx="2680335" cy="670321"/>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2400" b="1" i="0" u="none" strike="noStrike" cap="none" dirty="0">
                <a:solidFill>
                  <a:srgbClr val="00FFCC"/>
                </a:solidFill>
                <a:latin typeface="Arial"/>
                <a:ea typeface="Arial"/>
                <a:cs typeface="Arial"/>
                <a:sym typeface="Arial"/>
              </a:rPr>
              <a:t>Undetected Pest Vectors</a:t>
            </a:r>
            <a:endParaRPr dirty="0"/>
          </a:p>
        </p:txBody>
      </p:sp>
      <p:sp>
        <p:nvSpPr>
          <p:cNvPr id="101" name="Google Shape;101;p14"/>
          <p:cNvSpPr txBox="1"/>
          <p:nvPr/>
        </p:nvSpPr>
        <p:spPr>
          <a:xfrm>
            <a:off x="780668" y="3569598"/>
            <a:ext cx="2552700" cy="9144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b="0" i="0" u="none" strike="noStrike" cap="none">
                <a:solidFill>
                  <a:srgbClr val="FFFFFF"/>
                </a:solidFill>
                <a:latin typeface="Times New Roman"/>
                <a:ea typeface="Times New Roman"/>
                <a:cs typeface="Times New Roman"/>
                <a:sym typeface="Times New Roman"/>
              </a:rPr>
              <a:t>Manual scouting detects infestations post-damage threshold, resulting in 20–40% preventable crop loss.</a:t>
            </a:r>
            <a:endParaRPr/>
          </a:p>
        </p:txBody>
      </p:sp>
      <p:sp>
        <p:nvSpPr>
          <p:cNvPr id="102" name="Google Shape;102;p14"/>
          <p:cNvSpPr txBox="1"/>
          <p:nvPr/>
        </p:nvSpPr>
        <p:spPr>
          <a:xfrm>
            <a:off x="780668" y="4690190"/>
            <a:ext cx="2552700" cy="9144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b="0" i="0" u="none" strike="noStrike" cap="none" dirty="0">
                <a:solidFill>
                  <a:srgbClr val="FFFFFF"/>
                </a:solidFill>
                <a:latin typeface="Times New Roman"/>
                <a:ea typeface="Times New Roman"/>
                <a:cs typeface="Times New Roman"/>
                <a:sym typeface="Times New Roman"/>
              </a:rPr>
              <a:t>Conventional aerial drones lack sub-canopy visibility for early-stage ground-level detection.</a:t>
            </a:r>
            <a:endParaRPr dirty="0"/>
          </a:p>
        </p:txBody>
      </p:sp>
      <p:pic>
        <p:nvPicPr>
          <p:cNvPr id="103" name="Google Shape;103;p14" descr="image.png"/>
          <p:cNvPicPr preferRelativeResize="0"/>
          <p:nvPr/>
        </p:nvPicPr>
        <p:blipFill rotWithShape="1">
          <a:blip r:embed="rId7">
            <a:alphaModFix/>
          </a:blip>
          <a:srcRect/>
          <a:stretch/>
        </p:blipFill>
        <p:spPr>
          <a:xfrm>
            <a:off x="4819649" y="1645890"/>
            <a:ext cx="901638" cy="762000"/>
          </a:xfrm>
          <a:prstGeom prst="rect">
            <a:avLst/>
          </a:prstGeom>
          <a:noFill/>
          <a:ln>
            <a:noFill/>
          </a:ln>
        </p:spPr>
      </p:pic>
      <p:sp>
        <p:nvSpPr>
          <p:cNvPr id="104" name="Google Shape;104;p14"/>
          <p:cNvSpPr txBox="1"/>
          <p:nvPr/>
        </p:nvSpPr>
        <p:spPr>
          <a:xfrm>
            <a:off x="4819649" y="2637372"/>
            <a:ext cx="2680335" cy="670321"/>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2400" b="1" i="0" u="none" strike="noStrike" cap="none">
                <a:solidFill>
                  <a:srgbClr val="00FFCC"/>
                </a:solidFill>
                <a:latin typeface="Arial"/>
                <a:ea typeface="Arial"/>
                <a:cs typeface="Arial"/>
                <a:sym typeface="Arial"/>
              </a:rPr>
              <a:t>Blind Chemical Application</a:t>
            </a:r>
            <a:endParaRPr/>
          </a:p>
        </p:txBody>
      </p:sp>
      <p:sp>
        <p:nvSpPr>
          <p:cNvPr id="105" name="Google Shape;105;p14"/>
          <p:cNvSpPr txBox="1"/>
          <p:nvPr/>
        </p:nvSpPr>
        <p:spPr>
          <a:xfrm>
            <a:off x="4755832" y="3550307"/>
            <a:ext cx="2552700" cy="166199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b="0" i="0" u="none" strike="noStrike" cap="none" dirty="0">
                <a:solidFill>
                  <a:srgbClr val="FFFFFF"/>
                </a:solidFill>
                <a:latin typeface="Times New Roman"/>
                <a:ea typeface="Times New Roman"/>
                <a:cs typeface="Times New Roman"/>
                <a:sym typeface="Times New Roman"/>
              </a:rPr>
              <a:t>Flat-rate </a:t>
            </a:r>
            <a:r>
              <a:rPr lang="en-US" sz="1800" dirty="0">
                <a:solidFill>
                  <a:srgbClr val="FFFFFF"/>
                </a:solidFill>
                <a:latin typeface="Times New Roman"/>
                <a:ea typeface="Times New Roman"/>
                <a:cs typeface="Times New Roman"/>
                <a:sym typeface="Times New Roman"/>
              </a:rPr>
              <a:t>pesticide</a:t>
            </a:r>
            <a:r>
              <a:rPr lang="en-US" sz="1800" b="0" i="0" u="none" strike="noStrike" cap="none" dirty="0">
                <a:solidFill>
                  <a:srgbClr val="FFFFFF"/>
                </a:solidFill>
                <a:latin typeface="Times New Roman"/>
                <a:ea typeface="Times New Roman"/>
                <a:cs typeface="Times New Roman"/>
                <a:sym typeface="Times New Roman"/>
              </a:rPr>
              <a:t> application causes localized over-fertilization, severe soil degradation, and unnecessary chemical runoff.</a:t>
            </a:r>
            <a:endParaRPr dirty="0"/>
          </a:p>
        </p:txBody>
      </p:sp>
      <p:sp>
        <p:nvSpPr>
          <p:cNvPr id="106" name="Google Shape;106;p14"/>
          <p:cNvSpPr txBox="1"/>
          <p:nvPr/>
        </p:nvSpPr>
        <p:spPr>
          <a:xfrm>
            <a:off x="4755832" y="5184260"/>
            <a:ext cx="2552700" cy="9144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b="0" i="0" u="none" strike="noStrike" cap="none" dirty="0">
                <a:solidFill>
                  <a:srgbClr val="FFFFFF"/>
                </a:solidFill>
                <a:latin typeface="Times New Roman"/>
                <a:ea typeface="Times New Roman"/>
                <a:cs typeface="Times New Roman"/>
                <a:sym typeface="Times New Roman"/>
              </a:rPr>
              <a:t>Lack of spatial mapping leads to high operational expenditure on wasted resources.</a:t>
            </a:r>
            <a:endParaRPr dirty="0"/>
          </a:p>
        </p:txBody>
      </p:sp>
      <p:pic>
        <p:nvPicPr>
          <p:cNvPr id="107" name="Google Shape;107;p14" descr="image.png"/>
          <p:cNvPicPr preferRelativeResize="0"/>
          <p:nvPr/>
        </p:nvPicPr>
        <p:blipFill rotWithShape="1">
          <a:blip r:embed="rId8">
            <a:alphaModFix/>
          </a:blip>
          <a:srcRect/>
          <a:stretch/>
        </p:blipFill>
        <p:spPr>
          <a:xfrm>
            <a:off x="8875061" y="1645890"/>
            <a:ext cx="762000" cy="762000"/>
          </a:xfrm>
          <a:prstGeom prst="rect">
            <a:avLst/>
          </a:prstGeom>
          <a:noFill/>
          <a:ln>
            <a:noFill/>
          </a:ln>
        </p:spPr>
      </p:pic>
      <p:sp>
        <p:nvSpPr>
          <p:cNvPr id="108" name="Google Shape;108;p14"/>
          <p:cNvSpPr txBox="1"/>
          <p:nvPr/>
        </p:nvSpPr>
        <p:spPr>
          <a:xfrm>
            <a:off x="8769092" y="2699198"/>
            <a:ext cx="2680335" cy="670321"/>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2400" b="1" i="0" u="none" strike="noStrike" cap="none" dirty="0">
                <a:solidFill>
                  <a:srgbClr val="00FFCC"/>
                </a:solidFill>
                <a:latin typeface="Arial"/>
                <a:ea typeface="Arial"/>
                <a:cs typeface="Arial"/>
                <a:sym typeface="Arial"/>
              </a:rPr>
              <a:t>Disconnected Telemetry</a:t>
            </a:r>
            <a:endParaRPr dirty="0"/>
          </a:p>
        </p:txBody>
      </p:sp>
      <p:sp>
        <p:nvSpPr>
          <p:cNvPr id="109" name="Google Shape;109;p14"/>
          <p:cNvSpPr txBox="1"/>
          <p:nvPr/>
        </p:nvSpPr>
        <p:spPr>
          <a:xfrm>
            <a:off x="8769092" y="3695503"/>
            <a:ext cx="2552700" cy="1371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b="0" i="0" u="none" strike="noStrike" cap="none" dirty="0">
                <a:solidFill>
                  <a:srgbClr val="FFFFFF"/>
                </a:solidFill>
                <a:latin typeface="Times New Roman"/>
                <a:ea typeface="Times New Roman"/>
                <a:cs typeface="Times New Roman"/>
                <a:sym typeface="Times New Roman"/>
              </a:rPr>
              <a:t>Conventional field sensors act as isolated data loggers without spatial mobility, real-time actuation control loops, or dynamic 3D mapping visualization.</a:t>
            </a:r>
            <a:endParaRPr dirty="0"/>
          </a:p>
        </p:txBody>
      </p:sp>
      <p:pic>
        <p:nvPicPr>
          <p:cNvPr id="110" name="Google Shape;110;p14" descr="image.png"/>
          <p:cNvPicPr preferRelativeResize="0"/>
          <p:nvPr/>
        </p:nvPicPr>
        <p:blipFill rotWithShape="1">
          <a:blip r:embed="rId9">
            <a:alphaModFix/>
          </a:blip>
          <a:srcRect/>
          <a:stretch/>
        </p:blipFill>
        <p:spPr>
          <a:xfrm>
            <a:off x="1185030" y="1817339"/>
            <a:ext cx="575366" cy="447579"/>
          </a:xfrm>
          <a:prstGeom prst="rect">
            <a:avLst/>
          </a:prstGeom>
          <a:noFill/>
          <a:ln>
            <a:noFill/>
          </a:ln>
        </p:spPr>
      </p:pic>
      <p:pic>
        <p:nvPicPr>
          <p:cNvPr id="111" name="Google Shape;111;p14" descr="image.png"/>
          <p:cNvPicPr preferRelativeResize="0"/>
          <p:nvPr/>
        </p:nvPicPr>
        <p:blipFill rotWithShape="1">
          <a:blip r:embed="rId10">
            <a:alphaModFix/>
          </a:blip>
          <a:srcRect/>
          <a:stretch/>
        </p:blipFill>
        <p:spPr>
          <a:xfrm>
            <a:off x="4954258" y="1817340"/>
            <a:ext cx="528118" cy="418518"/>
          </a:xfrm>
          <a:prstGeom prst="rect">
            <a:avLst/>
          </a:prstGeom>
          <a:noFill/>
          <a:ln>
            <a:noFill/>
          </a:ln>
        </p:spPr>
      </p:pic>
      <p:pic>
        <p:nvPicPr>
          <p:cNvPr id="112" name="Google Shape;112;p14" descr="image.png"/>
          <p:cNvPicPr preferRelativeResize="0"/>
          <p:nvPr/>
        </p:nvPicPr>
        <p:blipFill rotWithShape="1">
          <a:blip r:embed="rId11">
            <a:alphaModFix/>
          </a:blip>
          <a:srcRect/>
          <a:stretch/>
        </p:blipFill>
        <p:spPr>
          <a:xfrm>
            <a:off x="9032223" y="1864868"/>
            <a:ext cx="447675" cy="400050"/>
          </a:xfrm>
          <a:prstGeom prst="rect">
            <a:avLst/>
          </a:prstGeom>
          <a:noFill/>
          <a:ln>
            <a:noFill/>
          </a:ln>
        </p:spPr>
      </p:pic>
      <p:sp>
        <p:nvSpPr>
          <p:cNvPr id="113" name="Google Shape;113;p14"/>
          <p:cNvSpPr txBox="1"/>
          <p:nvPr/>
        </p:nvSpPr>
        <p:spPr>
          <a:xfrm>
            <a:off x="571500" y="571500"/>
            <a:ext cx="11601450" cy="521940"/>
          </a:xfrm>
          <a:prstGeom prst="rect">
            <a:avLst/>
          </a:prstGeom>
          <a:noFill/>
          <a:ln>
            <a:noFill/>
          </a:ln>
        </p:spPr>
        <p:txBody>
          <a:bodyPr spcFirstLastPara="1" wrap="square" lIns="0" tIns="0" rIns="0" bIns="0" anchor="t" anchorCtr="0">
            <a:spAutoFit/>
          </a:bodyPr>
          <a:lstStyle/>
          <a:p>
            <a:pPr marL="0" marR="0" lvl="0" indent="0" algn="l" rtl="0">
              <a:lnSpc>
                <a:spcPct val="109972"/>
              </a:lnSpc>
              <a:spcBef>
                <a:spcPts val="0"/>
              </a:spcBef>
              <a:spcAft>
                <a:spcPts val="0"/>
              </a:spcAft>
              <a:buNone/>
            </a:pPr>
            <a:r>
              <a:rPr lang="en-US" sz="3600" b="1" i="0" u="none" strike="noStrike" cap="none">
                <a:solidFill>
                  <a:srgbClr val="00FFCC"/>
                </a:solidFill>
                <a:latin typeface="Arial"/>
                <a:ea typeface="Arial"/>
                <a:cs typeface="Arial"/>
                <a:sym typeface="Arial"/>
              </a:rPr>
              <a:t>Problem Statement &amp; Operational Inefficiencies</a:t>
            </a:r>
            <a:endParaRPr/>
          </a:p>
        </p:txBody>
      </p:sp>
      <p:sp>
        <p:nvSpPr>
          <p:cNvPr id="114" name="Google Shape;114;p14"/>
          <p:cNvSpPr/>
          <p:nvPr/>
        </p:nvSpPr>
        <p:spPr>
          <a:xfrm>
            <a:off x="571500" y="1217265"/>
            <a:ext cx="11049000" cy="19050"/>
          </a:xfrm>
          <a:prstGeom prst="rect">
            <a:avLst/>
          </a:prstGeom>
          <a:solidFill>
            <a:srgbClr val="30363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Shape 156"/>
        <p:cNvGrpSpPr/>
        <p:nvPr/>
      </p:nvGrpSpPr>
      <p:grpSpPr>
        <a:xfrm>
          <a:off x="0" y="0"/>
          <a:ext cx="0" cy="0"/>
          <a:chOff x="0" y="0"/>
          <a:chExt cx="0" cy="0"/>
        </a:xfrm>
      </p:grpSpPr>
      <p:sp>
        <p:nvSpPr>
          <p:cNvPr id="158" name="Google Shape;158;p17"/>
          <p:cNvSpPr txBox="1"/>
          <p:nvPr/>
        </p:nvSpPr>
        <p:spPr>
          <a:xfrm>
            <a:off x="561821" y="316283"/>
            <a:ext cx="11020732" cy="541687"/>
          </a:xfrm>
          <a:prstGeom prst="rect">
            <a:avLst/>
          </a:prstGeom>
          <a:noFill/>
          <a:ln>
            <a:noFill/>
          </a:ln>
        </p:spPr>
        <p:txBody>
          <a:bodyPr spcFirstLastPara="1" wrap="square" lIns="0" tIns="0" rIns="0" bIns="0" anchor="t" anchorCtr="0">
            <a:spAutoFit/>
          </a:bodyPr>
          <a:lstStyle/>
          <a:p>
            <a:pPr marL="0" marR="0" lvl="0" indent="0" algn="ctr" rtl="0">
              <a:lnSpc>
                <a:spcPct val="109972"/>
              </a:lnSpc>
              <a:spcBef>
                <a:spcPts val="0"/>
              </a:spcBef>
              <a:spcAft>
                <a:spcPts val="0"/>
              </a:spcAft>
              <a:buNone/>
            </a:pPr>
            <a:r>
              <a:rPr lang="en-US" sz="3200" b="1" i="0" u="none" strike="noStrike" cap="none" dirty="0">
                <a:solidFill>
                  <a:srgbClr val="00FFCC"/>
                </a:solidFill>
                <a:latin typeface="Arial"/>
                <a:ea typeface="Arial"/>
                <a:cs typeface="Arial"/>
                <a:sym typeface="Arial"/>
              </a:rPr>
              <a:t>Literature Survey</a:t>
            </a:r>
            <a:endParaRPr sz="3200" dirty="0"/>
          </a:p>
        </p:txBody>
      </p:sp>
      <p:sp>
        <p:nvSpPr>
          <p:cNvPr id="160" name="Google Shape;160;p17"/>
          <p:cNvSpPr txBox="1"/>
          <p:nvPr/>
        </p:nvSpPr>
        <p:spPr>
          <a:xfrm>
            <a:off x="561821" y="1294189"/>
            <a:ext cx="7343468" cy="369332"/>
          </a:xfrm>
          <a:prstGeom prst="rect">
            <a:avLst/>
          </a:prstGeom>
          <a:noFill/>
          <a:ln>
            <a:noFill/>
          </a:ln>
        </p:spPr>
        <p:txBody>
          <a:bodyPr spcFirstLastPara="1" wrap="square" lIns="0" tIns="0" rIns="0" bIns="0" anchor="t" anchorCtr="0">
            <a:spAutoFit/>
          </a:bodyPr>
          <a:lstStyle/>
          <a:p>
            <a:pPr lvl="0"/>
            <a:r>
              <a:rPr lang="en-IN" sz="2400" b="1" dirty="0">
                <a:solidFill>
                  <a:srgbClr val="00FFCC"/>
                </a:solidFill>
              </a:rPr>
              <a:t>UAV Based Crop Monitoring</a:t>
            </a:r>
            <a:endParaRPr b="1" dirty="0">
              <a:solidFill>
                <a:srgbClr val="00FFCC"/>
              </a:solidFill>
            </a:endParaRPr>
          </a:p>
        </p:txBody>
      </p:sp>
      <p:sp>
        <p:nvSpPr>
          <p:cNvPr id="161" name="Google Shape;161;p17"/>
          <p:cNvSpPr txBox="1"/>
          <p:nvPr/>
        </p:nvSpPr>
        <p:spPr>
          <a:xfrm>
            <a:off x="571499" y="1851345"/>
            <a:ext cx="11011053" cy="553998"/>
          </a:xfrm>
          <a:prstGeom prst="rect">
            <a:avLst/>
          </a:prstGeom>
          <a:noFill/>
          <a:ln>
            <a:noFill/>
          </a:ln>
        </p:spPr>
        <p:txBody>
          <a:bodyPr spcFirstLastPara="1" wrap="square" lIns="0" tIns="0" rIns="0" bIns="0" anchor="t" anchorCtr="0">
            <a:spAutoFit/>
          </a:bodyPr>
          <a:lstStyle/>
          <a:p>
            <a:pPr lvl="0"/>
            <a:r>
              <a:rPr lang="en-IN" sz="1800" dirty="0">
                <a:solidFill>
                  <a:schemeClr val="bg1"/>
                </a:solidFill>
              </a:rPr>
              <a:t>Existing research heavily emphasizes aerial drones for agricultural scouting but these systems lack sub canopy visibility and fail to detect early stage ground level pests</a:t>
            </a:r>
            <a:endParaRPr dirty="0">
              <a:solidFill>
                <a:schemeClr val="bg1"/>
              </a:solidFill>
            </a:endParaRPr>
          </a:p>
        </p:txBody>
      </p:sp>
      <p:sp>
        <p:nvSpPr>
          <p:cNvPr id="162" name="Google Shape;162;p17"/>
          <p:cNvSpPr txBox="1"/>
          <p:nvPr/>
        </p:nvSpPr>
        <p:spPr>
          <a:xfrm>
            <a:off x="561821" y="2885862"/>
            <a:ext cx="7166487" cy="369332"/>
          </a:xfrm>
          <a:prstGeom prst="rect">
            <a:avLst/>
          </a:prstGeom>
          <a:noFill/>
          <a:ln>
            <a:noFill/>
          </a:ln>
        </p:spPr>
        <p:txBody>
          <a:bodyPr spcFirstLastPara="1" wrap="square" lIns="0" tIns="0" rIns="0" bIns="0" anchor="t" anchorCtr="0">
            <a:spAutoFit/>
          </a:bodyPr>
          <a:lstStyle/>
          <a:p>
            <a:pPr lvl="0"/>
            <a:r>
              <a:rPr lang="en-IN" sz="2400" b="1" dirty="0">
                <a:solidFill>
                  <a:srgbClr val="00FFCC"/>
                </a:solidFill>
              </a:rPr>
              <a:t>Conventional Application Models</a:t>
            </a:r>
            <a:endParaRPr b="1" dirty="0">
              <a:solidFill>
                <a:srgbClr val="00FFCC"/>
              </a:solidFill>
            </a:endParaRPr>
          </a:p>
        </p:txBody>
      </p:sp>
      <p:sp>
        <p:nvSpPr>
          <p:cNvPr id="163" name="Google Shape;163;p17"/>
          <p:cNvSpPr txBox="1"/>
          <p:nvPr/>
        </p:nvSpPr>
        <p:spPr>
          <a:xfrm>
            <a:off x="561821" y="3418549"/>
            <a:ext cx="11011053" cy="553998"/>
          </a:xfrm>
          <a:prstGeom prst="rect">
            <a:avLst/>
          </a:prstGeom>
          <a:noFill/>
          <a:ln>
            <a:noFill/>
          </a:ln>
        </p:spPr>
        <p:txBody>
          <a:bodyPr spcFirstLastPara="1" wrap="square" lIns="0" tIns="0" rIns="0" bIns="0" anchor="t" anchorCtr="0">
            <a:spAutoFit/>
          </a:bodyPr>
          <a:lstStyle/>
          <a:p>
            <a:pPr lvl="0"/>
            <a:r>
              <a:rPr lang="en-IN" sz="1800" dirty="0">
                <a:solidFill>
                  <a:schemeClr val="bg1"/>
                </a:solidFill>
              </a:rPr>
              <a:t>Standard agronomic literature and industry practices rely on uniform flat rate chemical distribution and this fundamentally ignores the spatial variability of field conditions.</a:t>
            </a:r>
            <a:endParaRPr dirty="0">
              <a:solidFill>
                <a:schemeClr val="bg1"/>
              </a:solidFill>
            </a:endParaRPr>
          </a:p>
        </p:txBody>
      </p:sp>
      <p:sp>
        <p:nvSpPr>
          <p:cNvPr id="164" name="Google Shape;164;p17"/>
          <p:cNvSpPr txBox="1"/>
          <p:nvPr/>
        </p:nvSpPr>
        <p:spPr>
          <a:xfrm>
            <a:off x="561821" y="4452658"/>
            <a:ext cx="5500687" cy="369332"/>
          </a:xfrm>
          <a:prstGeom prst="rect">
            <a:avLst/>
          </a:prstGeom>
          <a:noFill/>
          <a:ln>
            <a:noFill/>
          </a:ln>
        </p:spPr>
        <p:txBody>
          <a:bodyPr spcFirstLastPara="1" wrap="square" lIns="0" tIns="0" rIns="0" bIns="0" anchor="t" anchorCtr="0">
            <a:spAutoFit/>
          </a:bodyPr>
          <a:lstStyle/>
          <a:p>
            <a:pPr lvl="0"/>
            <a:r>
              <a:rPr lang="en-IN" sz="2400" b="1" dirty="0">
                <a:solidFill>
                  <a:srgbClr val="00FFCC"/>
                </a:solidFill>
              </a:rPr>
              <a:t>Static IoT Telemetry</a:t>
            </a:r>
            <a:endParaRPr b="1" dirty="0">
              <a:solidFill>
                <a:srgbClr val="00FFCC"/>
              </a:solidFill>
            </a:endParaRPr>
          </a:p>
        </p:txBody>
      </p:sp>
      <p:sp>
        <p:nvSpPr>
          <p:cNvPr id="165" name="Google Shape;165;p17"/>
          <p:cNvSpPr txBox="1"/>
          <p:nvPr/>
        </p:nvSpPr>
        <p:spPr>
          <a:xfrm>
            <a:off x="561821" y="5004552"/>
            <a:ext cx="11011053" cy="830997"/>
          </a:xfrm>
          <a:prstGeom prst="rect">
            <a:avLst/>
          </a:prstGeom>
          <a:noFill/>
          <a:ln>
            <a:noFill/>
          </a:ln>
        </p:spPr>
        <p:txBody>
          <a:bodyPr spcFirstLastPara="1" wrap="square" lIns="0" tIns="0" rIns="0" bIns="0" anchor="t" anchorCtr="0">
            <a:spAutoFit/>
          </a:bodyPr>
          <a:lstStyle/>
          <a:p>
            <a:pPr lvl="0"/>
            <a:r>
              <a:rPr lang="en-IN" sz="1800" dirty="0">
                <a:solidFill>
                  <a:schemeClr val="bg1"/>
                </a:solidFill>
              </a:rPr>
              <a:t>Current environmental monitoring frameworks deploy stationary sensor networks that function strictly as isolated data loggers and they lack spatial mobility along with dynamic 3D mapping and real time control loops.</a:t>
            </a:r>
            <a:endParaRPr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Shape 156">
          <a:extLst>
            <a:ext uri="{FF2B5EF4-FFF2-40B4-BE49-F238E27FC236}">
              <a16:creationId xmlns:a16="http://schemas.microsoft.com/office/drawing/2014/main" id="{F9D20FE7-574E-9D10-29DB-F3E284AB9889}"/>
            </a:ext>
          </a:extLst>
        </p:cNvPr>
        <p:cNvGrpSpPr/>
        <p:nvPr/>
      </p:nvGrpSpPr>
      <p:grpSpPr>
        <a:xfrm>
          <a:off x="0" y="0"/>
          <a:ext cx="0" cy="0"/>
          <a:chOff x="0" y="0"/>
          <a:chExt cx="0" cy="0"/>
        </a:xfrm>
      </p:grpSpPr>
      <p:sp>
        <p:nvSpPr>
          <p:cNvPr id="158" name="Google Shape;158;p17">
            <a:extLst>
              <a:ext uri="{FF2B5EF4-FFF2-40B4-BE49-F238E27FC236}">
                <a16:creationId xmlns:a16="http://schemas.microsoft.com/office/drawing/2014/main" id="{2DD555E9-F397-39C7-3737-04BB9F349B06}"/>
              </a:ext>
            </a:extLst>
          </p:cNvPr>
          <p:cNvSpPr txBox="1"/>
          <p:nvPr/>
        </p:nvSpPr>
        <p:spPr>
          <a:xfrm>
            <a:off x="561821" y="316283"/>
            <a:ext cx="11020732" cy="492443"/>
          </a:xfrm>
          <a:prstGeom prst="rect">
            <a:avLst/>
          </a:prstGeom>
          <a:noFill/>
          <a:ln>
            <a:noFill/>
          </a:ln>
        </p:spPr>
        <p:txBody>
          <a:bodyPr spcFirstLastPara="1" wrap="square" lIns="0" tIns="0" rIns="0" bIns="0" anchor="t" anchorCtr="0">
            <a:spAutoFit/>
          </a:bodyPr>
          <a:lstStyle/>
          <a:p>
            <a:pPr lvl="0" algn="ctr"/>
            <a:r>
              <a:rPr lang="en-IN" sz="3200" b="1" dirty="0">
                <a:solidFill>
                  <a:srgbClr val="00FFCC"/>
                </a:solidFill>
              </a:rPr>
              <a:t>Challenges &amp; Research Gap</a:t>
            </a:r>
            <a:endParaRPr sz="3200" b="1" dirty="0">
              <a:solidFill>
                <a:srgbClr val="00FFCC"/>
              </a:solidFill>
            </a:endParaRPr>
          </a:p>
        </p:txBody>
      </p:sp>
      <p:sp>
        <p:nvSpPr>
          <p:cNvPr id="160" name="Google Shape;160;p17">
            <a:extLst>
              <a:ext uri="{FF2B5EF4-FFF2-40B4-BE49-F238E27FC236}">
                <a16:creationId xmlns:a16="http://schemas.microsoft.com/office/drawing/2014/main" id="{7ED52C2B-3928-493A-182B-7C2E48191F97}"/>
              </a:ext>
            </a:extLst>
          </p:cNvPr>
          <p:cNvSpPr txBox="1"/>
          <p:nvPr/>
        </p:nvSpPr>
        <p:spPr>
          <a:xfrm>
            <a:off x="561821" y="1294189"/>
            <a:ext cx="7343468" cy="369332"/>
          </a:xfrm>
          <a:prstGeom prst="rect">
            <a:avLst/>
          </a:prstGeom>
          <a:noFill/>
          <a:ln>
            <a:noFill/>
          </a:ln>
        </p:spPr>
        <p:txBody>
          <a:bodyPr spcFirstLastPara="1" wrap="square" lIns="0" tIns="0" rIns="0" bIns="0" anchor="t" anchorCtr="0">
            <a:spAutoFit/>
          </a:bodyPr>
          <a:lstStyle/>
          <a:p>
            <a:pPr lvl="0"/>
            <a:r>
              <a:rPr lang="en-IN" sz="2400" b="1" dirty="0">
                <a:solidFill>
                  <a:srgbClr val="00FFCC"/>
                </a:solidFill>
              </a:rPr>
              <a:t>Delayed Pest Identification</a:t>
            </a:r>
            <a:endParaRPr b="1" dirty="0">
              <a:solidFill>
                <a:srgbClr val="00FFCC"/>
              </a:solidFill>
            </a:endParaRPr>
          </a:p>
        </p:txBody>
      </p:sp>
      <p:sp>
        <p:nvSpPr>
          <p:cNvPr id="161" name="Google Shape;161;p17">
            <a:extLst>
              <a:ext uri="{FF2B5EF4-FFF2-40B4-BE49-F238E27FC236}">
                <a16:creationId xmlns:a16="http://schemas.microsoft.com/office/drawing/2014/main" id="{60B4DBEC-C437-D072-77D9-C710A3E2E02A}"/>
              </a:ext>
            </a:extLst>
          </p:cNvPr>
          <p:cNvSpPr txBox="1"/>
          <p:nvPr/>
        </p:nvSpPr>
        <p:spPr>
          <a:xfrm>
            <a:off x="571499" y="1851345"/>
            <a:ext cx="11011053" cy="830997"/>
          </a:xfrm>
          <a:prstGeom prst="rect">
            <a:avLst/>
          </a:prstGeom>
          <a:noFill/>
          <a:ln>
            <a:noFill/>
          </a:ln>
        </p:spPr>
        <p:txBody>
          <a:bodyPr spcFirstLastPara="1" wrap="square" lIns="0" tIns="0" rIns="0" bIns="0" anchor="t" anchorCtr="0">
            <a:spAutoFit/>
          </a:bodyPr>
          <a:lstStyle/>
          <a:p>
            <a:pPr lvl="0"/>
            <a:r>
              <a:rPr lang="en-IN" sz="1800" dirty="0">
                <a:solidFill>
                  <a:schemeClr val="bg1"/>
                </a:solidFill>
              </a:rPr>
              <a:t>Current scouting methods only identify infestations post damage threshold and this causes 20 to 40 percent preventable crop loss. The critical research gap is the lack of an autonomous edge AI driven system for early stage detection under the canopy.</a:t>
            </a:r>
            <a:endParaRPr dirty="0">
              <a:solidFill>
                <a:schemeClr val="bg1"/>
              </a:solidFill>
            </a:endParaRPr>
          </a:p>
        </p:txBody>
      </p:sp>
      <p:sp>
        <p:nvSpPr>
          <p:cNvPr id="162" name="Google Shape;162;p17">
            <a:extLst>
              <a:ext uri="{FF2B5EF4-FFF2-40B4-BE49-F238E27FC236}">
                <a16:creationId xmlns:a16="http://schemas.microsoft.com/office/drawing/2014/main" id="{67C3D208-EE1E-B88C-761B-75EE23726033}"/>
              </a:ext>
            </a:extLst>
          </p:cNvPr>
          <p:cNvSpPr txBox="1"/>
          <p:nvPr/>
        </p:nvSpPr>
        <p:spPr>
          <a:xfrm>
            <a:off x="561821" y="2978195"/>
            <a:ext cx="7166487" cy="369332"/>
          </a:xfrm>
          <a:prstGeom prst="rect">
            <a:avLst/>
          </a:prstGeom>
          <a:noFill/>
          <a:ln>
            <a:noFill/>
          </a:ln>
        </p:spPr>
        <p:txBody>
          <a:bodyPr spcFirstLastPara="1" wrap="square" lIns="0" tIns="0" rIns="0" bIns="0" anchor="t" anchorCtr="0">
            <a:spAutoFit/>
          </a:bodyPr>
          <a:lstStyle/>
          <a:p>
            <a:pPr lvl="0"/>
            <a:r>
              <a:rPr lang="en-IN" sz="2400" b="1" dirty="0">
                <a:solidFill>
                  <a:srgbClr val="00FFCC"/>
                </a:solidFill>
              </a:rPr>
              <a:t>Severe Soil Degradation &amp; Waste</a:t>
            </a:r>
            <a:endParaRPr b="1" dirty="0">
              <a:solidFill>
                <a:srgbClr val="00FFCC"/>
              </a:solidFill>
            </a:endParaRPr>
          </a:p>
        </p:txBody>
      </p:sp>
      <p:sp>
        <p:nvSpPr>
          <p:cNvPr id="163" name="Google Shape;163;p17">
            <a:extLst>
              <a:ext uri="{FF2B5EF4-FFF2-40B4-BE49-F238E27FC236}">
                <a16:creationId xmlns:a16="http://schemas.microsoft.com/office/drawing/2014/main" id="{82628736-6CFB-1D4A-AC4F-1EBBB4ABE90F}"/>
              </a:ext>
            </a:extLst>
          </p:cNvPr>
          <p:cNvSpPr txBox="1"/>
          <p:nvPr/>
        </p:nvSpPr>
        <p:spPr>
          <a:xfrm>
            <a:off x="561821" y="3510882"/>
            <a:ext cx="11011053" cy="553998"/>
          </a:xfrm>
          <a:prstGeom prst="rect">
            <a:avLst/>
          </a:prstGeom>
          <a:noFill/>
          <a:ln>
            <a:noFill/>
          </a:ln>
        </p:spPr>
        <p:txBody>
          <a:bodyPr spcFirstLastPara="1" wrap="square" lIns="0" tIns="0" rIns="0" bIns="0" anchor="t" anchorCtr="0">
            <a:spAutoFit/>
          </a:bodyPr>
          <a:lstStyle/>
          <a:p>
            <a:pPr lvl="0"/>
            <a:r>
              <a:rPr lang="en-IN" sz="1800" dirty="0">
                <a:solidFill>
                  <a:schemeClr val="bg1"/>
                </a:solidFill>
              </a:rPr>
              <a:t>Blind resource application causes unnecessary chemical runoff and massive operational waste. The gap is the inability to track climate acutely and generate localized spatial heatmaps to guide precise interventions.</a:t>
            </a:r>
            <a:endParaRPr dirty="0">
              <a:solidFill>
                <a:schemeClr val="bg1"/>
              </a:solidFill>
            </a:endParaRPr>
          </a:p>
        </p:txBody>
      </p:sp>
      <p:sp>
        <p:nvSpPr>
          <p:cNvPr id="164" name="Google Shape;164;p17">
            <a:extLst>
              <a:ext uri="{FF2B5EF4-FFF2-40B4-BE49-F238E27FC236}">
                <a16:creationId xmlns:a16="http://schemas.microsoft.com/office/drawing/2014/main" id="{9774A442-B2FD-6A27-7797-2600D53EFF59}"/>
              </a:ext>
            </a:extLst>
          </p:cNvPr>
          <p:cNvSpPr txBox="1"/>
          <p:nvPr/>
        </p:nvSpPr>
        <p:spPr>
          <a:xfrm>
            <a:off x="595313" y="4477535"/>
            <a:ext cx="5500687" cy="369332"/>
          </a:xfrm>
          <a:prstGeom prst="rect">
            <a:avLst/>
          </a:prstGeom>
          <a:noFill/>
          <a:ln>
            <a:noFill/>
          </a:ln>
        </p:spPr>
        <p:txBody>
          <a:bodyPr spcFirstLastPara="1" wrap="square" lIns="0" tIns="0" rIns="0" bIns="0" anchor="t" anchorCtr="0">
            <a:spAutoFit/>
          </a:bodyPr>
          <a:lstStyle/>
          <a:p>
            <a:pPr lvl="0"/>
            <a:r>
              <a:rPr lang="en-IN" sz="2400" b="1" dirty="0">
                <a:solidFill>
                  <a:srgbClr val="00FFCC"/>
                </a:solidFill>
              </a:rPr>
              <a:t>Absence of a Physical to Digital Loop</a:t>
            </a:r>
            <a:endParaRPr b="1" dirty="0">
              <a:solidFill>
                <a:srgbClr val="00FFCC"/>
              </a:solidFill>
            </a:endParaRPr>
          </a:p>
        </p:txBody>
      </p:sp>
      <p:sp>
        <p:nvSpPr>
          <p:cNvPr id="165" name="Google Shape;165;p17">
            <a:extLst>
              <a:ext uri="{FF2B5EF4-FFF2-40B4-BE49-F238E27FC236}">
                <a16:creationId xmlns:a16="http://schemas.microsoft.com/office/drawing/2014/main" id="{0FD5A715-6C29-5301-2C08-6FDA423D782D}"/>
              </a:ext>
            </a:extLst>
          </p:cNvPr>
          <p:cNvSpPr txBox="1"/>
          <p:nvPr/>
        </p:nvSpPr>
        <p:spPr>
          <a:xfrm>
            <a:off x="595313" y="5029429"/>
            <a:ext cx="11011053" cy="830997"/>
          </a:xfrm>
          <a:prstGeom prst="rect">
            <a:avLst/>
          </a:prstGeom>
          <a:noFill/>
          <a:ln>
            <a:noFill/>
          </a:ln>
        </p:spPr>
        <p:txBody>
          <a:bodyPr spcFirstLastPara="1" wrap="square" lIns="0" tIns="0" rIns="0" bIns="0" anchor="t" anchorCtr="0">
            <a:spAutoFit/>
          </a:bodyPr>
          <a:lstStyle/>
          <a:p>
            <a:pPr lvl="0"/>
            <a:r>
              <a:rPr lang="en-IN" sz="1800" dirty="0">
                <a:solidFill>
                  <a:schemeClr val="bg1"/>
                </a:solidFill>
              </a:rPr>
              <a:t>Existing technologies fail to bridge physical field data with actionable digital analytics. The unaddressed gap is a real time digital twin architecture capable of mirroring physical kinematics and mapping environmental telemetry within a 3D visual workspace.</a:t>
            </a:r>
            <a:endParaRPr dirty="0">
              <a:solidFill>
                <a:schemeClr val="bg1"/>
              </a:solidFill>
            </a:endParaRPr>
          </a:p>
        </p:txBody>
      </p:sp>
    </p:spTree>
    <p:extLst>
      <p:ext uri="{BB962C8B-B14F-4D97-AF65-F5344CB8AC3E}">
        <p14:creationId xmlns:p14="http://schemas.microsoft.com/office/powerpoint/2010/main" val="23674334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Shape 118"/>
        <p:cNvGrpSpPr/>
        <p:nvPr/>
      </p:nvGrpSpPr>
      <p:grpSpPr>
        <a:xfrm>
          <a:off x="0" y="0"/>
          <a:ext cx="0" cy="0"/>
          <a:chOff x="0" y="0"/>
          <a:chExt cx="0" cy="0"/>
        </a:xfrm>
      </p:grpSpPr>
      <p:sp>
        <p:nvSpPr>
          <p:cNvPr id="128" name="Google Shape;128;p15"/>
          <p:cNvSpPr txBox="1"/>
          <p:nvPr/>
        </p:nvSpPr>
        <p:spPr>
          <a:xfrm>
            <a:off x="571500" y="207706"/>
            <a:ext cx="11601450" cy="541687"/>
          </a:xfrm>
          <a:prstGeom prst="rect">
            <a:avLst/>
          </a:prstGeom>
          <a:noFill/>
          <a:ln>
            <a:noFill/>
          </a:ln>
        </p:spPr>
        <p:txBody>
          <a:bodyPr spcFirstLastPara="1" wrap="square" lIns="0" tIns="0" rIns="0" bIns="0" anchor="t" anchorCtr="0">
            <a:spAutoFit/>
          </a:bodyPr>
          <a:lstStyle/>
          <a:p>
            <a:pPr marL="0" marR="0" lvl="0" indent="0" algn="ctr" rtl="0">
              <a:lnSpc>
                <a:spcPct val="109972"/>
              </a:lnSpc>
              <a:spcBef>
                <a:spcPts val="0"/>
              </a:spcBef>
              <a:spcAft>
                <a:spcPts val="0"/>
              </a:spcAft>
              <a:buNone/>
            </a:pPr>
            <a:r>
              <a:rPr lang="en-US" sz="3200" b="1" i="0" u="none" strike="noStrike" cap="none" dirty="0">
                <a:solidFill>
                  <a:srgbClr val="00FFCC"/>
                </a:solidFill>
                <a:latin typeface="Arial"/>
                <a:ea typeface="Arial"/>
                <a:cs typeface="Arial"/>
                <a:sym typeface="Arial"/>
              </a:rPr>
              <a:t>Proposed Solution &amp; Physical to Digital loop</a:t>
            </a:r>
            <a:endParaRPr sz="3200" dirty="0"/>
          </a:p>
        </p:txBody>
      </p:sp>
      <p:sp>
        <p:nvSpPr>
          <p:cNvPr id="129" name="Google Shape;129;p15"/>
          <p:cNvSpPr/>
          <p:nvPr/>
        </p:nvSpPr>
        <p:spPr>
          <a:xfrm>
            <a:off x="571500" y="1217265"/>
            <a:ext cx="11049000" cy="19050"/>
          </a:xfrm>
          <a:prstGeom prst="rect">
            <a:avLst/>
          </a:prstGeom>
          <a:solidFill>
            <a:srgbClr val="30363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7" name="Picture 6">
            <a:extLst>
              <a:ext uri="{FF2B5EF4-FFF2-40B4-BE49-F238E27FC236}">
                <a16:creationId xmlns:a16="http://schemas.microsoft.com/office/drawing/2014/main" id="{BC946828-EDDA-BB22-9F7A-A26E48A13F61}"/>
              </a:ext>
            </a:extLst>
          </p:cNvPr>
          <p:cNvPicPr>
            <a:picLocks noChangeAspect="1"/>
          </p:cNvPicPr>
          <p:nvPr/>
        </p:nvPicPr>
        <p:blipFill>
          <a:blip r:embed="rId3"/>
          <a:stretch>
            <a:fillRect/>
          </a:stretch>
        </p:blipFill>
        <p:spPr>
          <a:xfrm>
            <a:off x="571500" y="845575"/>
            <a:ext cx="11049000" cy="574232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Shape 216"/>
        <p:cNvGrpSpPr/>
        <p:nvPr/>
      </p:nvGrpSpPr>
      <p:grpSpPr>
        <a:xfrm>
          <a:off x="0" y="0"/>
          <a:ext cx="0" cy="0"/>
          <a:chOff x="0" y="0"/>
          <a:chExt cx="0" cy="0"/>
        </a:xfrm>
      </p:grpSpPr>
      <p:graphicFrame>
        <p:nvGraphicFramePr>
          <p:cNvPr id="219" name="Google Shape;219;p20"/>
          <p:cNvGraphicFramePr/>
          <p:nvPr>
            <p:extLst>
              <p:ext uri="{D42A27DB-BD31-4B8C-83A1-F6EECF244321}">
                <p14:modId xmlns:p14="http://schemas.microsoft.com/office/powerpoint/2010/main" val="1032924262"/>
              </p:ext>
            </p:extLst>
          </p:nvPr>
        </p:nvGraphicFramePr>
        <p:xfrm>
          <a:off x="571498" y="1274415"/>
          <a:ext cx="11048999" cy="5245146"/>
        </p:xfrm>
        <a:graphic>
          <a:graphicData uri="http://schemas.openxmlformats.org/drawingml/2006/table">
            <a:tbl>
              <a:tblPr firstRow="1" bandRow="1">
                <a:noFill/>
                <a:tableStyleId>{E57C72ED-C450-4F7F-8161-CB2425E014D0}</a:tableStyleId>
              </a:tblPr>
              <a:tblGrid>
                <a:gridCol w="2762244">
                  <a:extLst>
                    <a:ext uri="{9D8B030D-6E8A-4147-A177-3AD203B41FA5}">
                      <a16:colId xmlns:a16="http://schemas.microsoft.com/office/drawing/2014/main" val="20000"/>
                    </a:ext>
                  </a:extLst>
                </a:gridCol>
                <a:gridCol w="2762244">
                  <a:extLst>
                    <a:ext uri="{9D8B030D-6E8A-4147-A177-3AD203B41FA5}">
                      <a16:colId xmlns:a16="http://schemas.microsoft.com/office/drawing/2014/main" val="20001"/>
                    </a:ext>
                  </a:extLst>
                </a:gridCol>
                <a:gridCol w="5524511">
                  <a:extLst>
                    <a:ext uri="{9D8B030D-6E8A-4147-A177-3AD203B41FA5}">
                      <a16:colId xmlns:a16="http://schemas.microsoft.com/office/drawing/2014/main" val="20002"/>
                    </a:ext>
                  </a:extLst>
                </a:gridCol>
              </a:tblGrid>
              <a:tr h="874191">
                <a:tc>
                  <a:txBody>
                    <a:bodyPr/>
                    <a:lstStyle/>
                    <a:p>
                      <a:pPr marL="0" marR="0" lvl="0" indent="0" algn="l" rtl="0">
                        <a:spcBef>
                          <a:spcPts val="0"/>
                        </a:spcBef>
                        <a:spcAft>
                          <a:spcPts val="0"/>
                        </a:spcAft>
                        <a:buNone/>
                      </a:pPr>
                      <a:r>
                        <a:rPr lang="en-US" sz="1950" b="1" i="0" u="none" strike="noStrike" cap="none">
                          <a:solidFill>
                            <a:srgbClr val="00FFCC"/>
                          </a:solidFill>
                          <a:latin typeface="Arial"/>
                          <a:ea typeface="Arial"/>
                          <a:cs typeface="Arial"/>
                          <a:sym typeface="Arial"/>
                        </a:rPr>
                        <a:t>Subsystem</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tx1"/>
                    </a:solidFill>
                  </a:tcPr>
                </a:tc>
                <a:tc>
                  <a:txBody>
                    <a:bodyPr/>
                    <a:lstStyle/>
                    <a:p>
                      <a:pPr marL="0" marR="0" lvl="0" indent="0" algn="l" rtl="0">
                        <a:spcBef>
                          <a:spcPts val="0"/>
                        </a:spcBef>
                        <a:spcAft>
                          <a:spcPts val="0"/>
                        </a:spcAft>
                        <a:buNone/>
                      </a:pPr>
                      <a:r>
                        <a:rPr lang="en-US" sz="1950" b="1" i="0" u="none" strike="noStrike" cap="none" dirty="0">
                          <a:solidFill>
                            <a:srgbClr val="00FFCC"/>
                          </a:solidFill>
                          <a:latin typeface="Arial"/>
                          <a:ea typeface="Arial"/>
                          <a:cs typeface="Arial"/>
                          <a:sym typeface="Arial"/>
                        </a:rPr>
                        <a:t>Hardware / Framework</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tx1"/>
                    </a:solidFill>
                  </a:tcPr>
                </a:tc>
                <a:tc>
                  <a:txBody>
                    <a:bodyPr/>
                    <a:lstStyle/>
                    <a:p>
                      <a:pPr marL="0" marR="0" lvl="0" indent="0" algn="l" rtl="0">
                        <a:spcBef>
                          <a:spcPts val="0"/>
                        </a:spcBef>
                        <a:spcAft>
                          <a:spcPts val="0"/>
                        </a:spcAft>
                        <a:buNone/>
                      </a:pPr>
                      <a:r>
                        <a:rPr lang="en-US" sz="1950" b="1" i="0" u="none" strike="noStrike" cap="none" dirty="0">
                          <a:solidFill>
                            <a:srgbClr val="00FFCC"/>
                          </a:solidFill>
                          <a:latin typeface="Arial"/>
                          <a:ea typeface="Arial"/>
                          <a:cs typeface="Arial"/>
                          <a:sym typeface="Arial"/>
                        </a:rPr>
                        <a:t>Functional Role </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tx1"/>
                    </a:solidFill>
                  </a:tcPr>
                </a:tc>
                <a:extLst>
                  <a:ext uri="{0D108BD9-81ED-4DB2-BD59-A6C34878D82A}">
                    <a16:rowId xmlns:a16="http://schemas.microsoft.com/office/drawing/2014/main" val="10000"/>
                  </a:ext>
                </a:extLst>
              </a:tr>
              <a:tr h="874191">
                <a:tc>
                  <a:txBody>
                    <a:bodyPr/>
                    <a:lstStyle/>
                    <a:p>
                      <a:pPr marL="0" marR="0" lvl="0" indent="0" algn="l" rtl="0">
                        <a:spcBef>
                          <a:spcPts val="0"/>
                        </a:spcBef>
                        <a:spcAft>
                          <a:spcPts val="0"/>
                        </a:spcAft>
                        <a:buNone/>
                      </a:pPr>
                      <a:r>
                        <a:rPr lang="en-US" sz="1800" b="0" i="0" u="none" strike="noStrike" cap="none" dirty="0">
                          <a:solidFill>
                            <a:srgbClr val="FFFFFF"/>
                          </a:solidFill>
                          <a:latin typeface="Times New Roman"/>
                          <a:ea typeface="Times New Roman"/>
                          <a:cs typeface="Times New Roman"/>
                          <a:sym typeface="Times New Roman"/>
                        </a:rPr>
                        <a:t>Compute &amp; Vision</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tx1"/>
                    </a:solidFill>
                  </a:tcPr>
                </a:tc>
                <a:tc>
                  <a:txBody>
                    <a:bodyPr/>
                    <a:lstStyle/>
                    <a:p>
                      <a:pPr marL="0" marR="0" lvl="0" indent="0" algn="l" rtl="0">
                        <a:spcBef>
                          <a:spcPts val="0"/>
                        </a:spcBef>
                        <a:spcAft>
                          <a:spcPts val="0"/>
                        </a:spcAft>
                        <a:buNone/>
                      </a:pPr>
                      <a:r>
                        <a:rPr lang="en-US" sz="1800" b="0" i="0" u="none" strike="noStrike" cap="none" dirty="0">
                          <a:solidFill>
                            <a:srgbClr val="FFFFFF"/>
                          </a:solidFill>
                          <a:latin typeface="Times New Roman"/>
                          <a:ea typeface="Times New Roman"/>
                          <a:cs typeface="Times New Roman"/>
                          <a:sym typeface="Times New Roman"/>
                        </a:rPr>
                        <a:t>ESP32-S3 (Dual Core)</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tx1"/>
                    </a:solidFill>
                  </a:tcPr>
                </a:tc>
                <a:tc>
                  <a:txBody>
                    <a:bodyPr/>
                    <a:lstStyle/>
                    <a:p>
                      <a:pPr marL="0" marR="0" lvl="0" indent="0" algn="l" rtl="0">
                        <a:spcBef>
                          <a:spcPts val="0"/>
                        </a:spcBef>
                        <a:spcAft>
                          <a:spcPts val="0"/>
                        </a:spcAft>
                        <a:buNone/>
                      </a:pPr>
                      <a:r>
                        <a:rPr lang="en-US" sz="1800" b="0" i="0" u="none" strike="noStrike" cap="none" dirty="0">
                          <a:solidFill>
                            <a:srgbClr val="FFFFFF"/>
                          </a:solidFill>
                          <a:latin typeface="Times New Roman"/>
                          <a:ea typeface="Times New Roman"/>
                          <a:cs typeface="Times New Roman"/>
                          <a:sym typeface="Times New Roman"/>
                        </a:rPr>
                        <a:t>Motor PWM, RTOS polling, Edge CV inference, MQTT gateway</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tx1"/>
                    </a:solidFill>
                  </a:tcPr>
                </a:tc>
                <a:extLst>
                  <a:ext uri="{0D108BD9-81ED-4DB2-BD59-A6C34878D82A}">
                    <a16:rowId xmlns:a16="http://schemas.microsoft.com/office/drawing/2014/main" val="10001"/>
                  </a:ext>
                </a:extLst>
              </a:tr>
              <a:tr h="874191">
                <a:tc>
                  <a:txBody>
                    <a:bodyPr/>
                    <a:lstStyle/>
                    <a:p>
                      <a:pPr marL="0" marR="0" lvl="0" indent="0" algn="l" rtl="0">
                        <a:spcBef>
                          <a:spcPts val="0"/>
                        </a:spcBef>
                        <a:spcAft>
                          <a:spcPts val="0"/>
                        </a:spcAft>
                        <a:buNone/>
                      </a:pPr>
                      <a:r>
                        <a:rPr lang="en-US" sz="1800" b="0" i="0" u="none" strike="noStrike" cap="none" dirty="0">
                          <a:solidFill>
                            <a:srgbClr val="FFFFFF"/>
                          </a:solidFill>
                          <a:latin typeface="Times New Roman"/>
                          <a:ea typeface="Times New Roman"/>
                          <a:cs typeface="Times New Roman"/>
                          <a:sym typeface="Times New Roman"/>
                        </a:rPr>
                        <a:t>Motor Drivers</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tx1"/>
                    </a:solidFill>
                  </a:tcPr>
                </a:tc>
                <a:tc>
                  <a:txBody>
                    <a:bodyPr/>
                    <a:lstStyle/>
                    <a:p>
                      <a:pPr marL="0" marR="0" lvl="0" indent="0" algn="l" rtl="0">
                        <a:spcBef>
                          <a:spcPts val="0"/>
                        </a:spcBef>
                        <a:spcAft>
                          <a:spcPts val="0"/>
                        </a:spcAft>
                        <a:buNone/>
                      </a:pPr>
                      <a:r>
                        <a:rPr lang="en-US" sz="1800" b="0" i="0" u="none" strike="noStrike" cap="none" dirty="0">
                          <a:solidFill>
                            <a:srgbClr val="FFFFFF"/>
                          </a:solidFill>
                          <a:latin typeface="Times New Roman"/>
                          <a:ea typeface="Times New Roman"/>
                          <a:cs typeface="Times New Roman"/>
                          <a:sym typeface="Times New Roman"/>
                        </a:rPr>
                        <a:t>L298N</a:t>
                      </a:r>
                      <a:endParaRPr dirty="0"/>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tx1"/>
                    </a:solidFill>
                  </a:tcPr>
                </a:tc>
                <a:tc>
                  <a:txBody>
                    <a:bodyPr/>
                    <a:lstStyle/>
                    <a:p>
                      <a:pPr marL="0" marR="0" lvl="0" indent="0" algn="l" rtl="0">
                        <a:spcBef>
                          <a:spcPts val="0"/>
                        </a:spcBef>
                        <a:spcAft>
                          <a:spcPts val="0"/>
                        </a:spcAft>
                        <a:buNone/>
                      </a:pPr>
                      <a:r>
                        <a:rPr lang="en-US" sz="1800" b="0" i="0" u="none" strike="noStrike" cap="none" dirty="0">
                          <a:solidFill>
                            <a:srgbClr val="FFFFFF"/>
                          </a:solidFill>
                          <a:latin typeface="Times New Roman"/>
                          <a:ea typeface="Times New Roman"/>
                          <a:cs typeface="Times New Roman"/>
                          <a:sym typeface="Times New Roman"/>
                        </a:rPr>
                        <a:t>Skid-steer high-torque drive control</a:t>
                      </a:r>
                      <a:endParaRPr dirty="0"/>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tx1"/>
                    </a:solidFill>
                  </a:tcPr>
                </a:tc>
                <a:extLst>
                  <a:ext uri="{0D108BD9-81ED-4DB2-BD59-A6C34878D82A}">
                    <a16:rowId xmlns:a16="http://schemas.microsoft.com/office/drawing/2014/main" val="10002"/>
                  </a:ext>
                </a:extLst>
              </a:tr>
              <a:tr h="874191">
                <a:tc>
                  <a:txBody>
                    <a:bodyPr/>
                    <a:lstStyle/>
                    <a:p>
                      <a:pPr marL="0" marR="0" lvl="0" indent="0" algn="l" rtl="0">
                        <a:spcBef>
                          <a:spcPts val="0"/>
                        </a:spcBef>
                        <a:spcAft>
                          <a:spcPts val="0"/>
                        </a:spcAft>
                        <a:buNone/>
                      </a:pPr>
                      <a:r>
                        <a:rPr lang="en-US" sz="1800" b="0" i="0" u="none" strike="noStrike" cap="none">
                          <a:solidFill>
                            <a:srgbClr val="FFFFFF"/>
                          </a:solidFill>
                          <a:latin typeface="Times New Roman"/>
                          <a:ea typeface="Times New Roman"/>
                          <a:cs typeface="Times New Roman"/>
                          <a:sym typeface="Times New Roman"/>
                        </a:rPr>
                        <a:t>Perception Sensors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tx1"/>
                    </a:solidFill>
                  </a:tcPr>
                </a:tc>
                <a:tc>
                  <a:txBody>
                    <a:bodyPr/>
                    <a:lstStyle/>
                    <a:p>
                      <a:pPr marL="0" marR="0" lvl="0" indent="0" algn="l" rtl="0">
                        <a:spcBef>
                          <a:spcPts val="0"/>
                        </a:spcBef>
                        <a:spcAft>
                          <a:spcPts val="0"/>
                        </a:spcAft>
                        <a:buNone/>
                      </a:pPr>
                      <a:r>
                        <a:rPr lang="en-US" sz="1800" b="0" i="0" u="none" strike="noStrike" cap="none" dirty="0">
                          <a:solidFill>
                            <a:srgbClr val="FFFFFF"/>
                          </a:solidFill>
                          <a:latin typeface="Times New Roman"/>
                          <a:ea typeface="Times New Roman"/>
                          <a:cs typeface="Times New Roman"/>
                          <a:sym typeface="Times New Roman"/>
                        </a:rPr>
                        <a:t>HC-SR04, IMU</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tx1"/>
                    </a:solidFill>
                  </a:tcPr>
                </a:tc>
                <a:tc>
                  <a:txBody>
                    <a:bodyPr/>
                    <a:lstStyle/>
                    <a:p>
                      <a:pPr marL="0" marR="0" lvl="0" indent="0" algn="l" rtl="0">
                        <a:spcBef>
                          <a:spcPts val="0"/>
                        </a:spcBef>
                        <a:spcAft>
                          <a:spcPts val="0"/>
                        </a:spcAft>
                        <a:buNone/>
                      </a:pPr>
                      <a:r>
                        <a:rPr lang="en-US" sz="1800" b="0" i="0" u="none" strike="noStrike" cap="none" dirty="0">
                          <a:solidFill>
                            <a:srgbClr val="FFFFFF"/>
                          </a:solidFill>
                          <a:latin typeface="Times New Roman"/>
                          <a:ea typeface="Times New Roman"/>
                          <a:cs typeface="Times New Roman"/>
                          <a:sym typeface="Times New Roman"/>
                        </a:rPr>
                        <a:t>Multi-zone collision avoidance &amp; pose estimation</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tx1"/>
                    </a:solidFill>
                  </a:tcPr>
                </a:tc>
                <a:extLst>
                  <a:ext uri="{0D108BD9-81ED-4DB2-BD59-A6C34878D82A}">
                    <a16:rowId xmlns:a16="http://schemas.microsoft.com/office/drawing/2014/main" val="10003"/>
                  </a:ext>
                </a:extLst>
              </a:tr>
              <a:tr h="874191">
                <a:tc>
                  <a:txBody>
                    <a:bodyPr/>
                    <a:lstStyle/>
                    <a:p>
                      <a:pPr marL="0" marR="0" lvl="0" indent="0" algn="l" rtl="0">
                        <a:spcBef>
                          <a:spcPts val="0"/>
                        </a:spcBef>
                        <a:spcAft>
                          <a:spcPts val="0"/>
                        </a:spcAft>
                        <a:buNone/>
                      </a:pPr>
                      <a:r>
                        <a:rPr lang="en-US" sz="1800" b="0" i="0" u="none" strike="noStrike" cap="none">
                          <a:solidFill>
                            <a:srgbClr val="FFFFFF"/>
                          </a:solidFill>
                          <a:latin typeface="Times New Roman"/>
                          <a:ea typeface="Times New Roman"/>
                          <a:cs typeface="Times New Roman"/>
                          <a:sym typeface="Times New Roman"/>
                        </a:rPr>
                        <a:t>Agronomic Sensing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tx1"/>
                    </a:solidFill>
                  </a:tcPr>
                </a:tc>
                <a:tc>
                  <a:txBody>
                    <a:bodyPr/>
                    <a:lstStyle/>
                    <a:p>
                      <a:pPr marL="0" marR="0" lvl="0" indent="0" algn="l" rtl="0">
                        <a:spcBef>
                          <a:spcPts val="0"/>
                        </a:spcBef>
                        <a:spcAft>
                          <a:spcPts val="0"/>
                        </a:spcAft>
                        <a:buNone/>
                      </a:pPr>
                      <a:r>
                        <a:rPr lang="en-US" sz="1800" b="0" i="0" u="none" strike="noStrike" cap="none" dirty="0">
                          <a:solidFill>
                            <a:srgbClr val="FFFFFF"/>
                          </a:solidFill>
                          <a:latin typeface="Times New Roman"/>
                          <a:ea typeface="Times New Roman"/>
                          <a:cs typeface="Times New Roman"/>
                          <a:sym typeface="Times New Roman"/>
                        </a:rPr>
                        <a:t>Soil pH, DHT22</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tx1"/>
                    </a:solidFill>
                  </a:tcPr>
                </a:tc>
                <a:tc>
                  <a:txBody>
                    <a:bodyPr/>
                    <a:lstStyle/>
                    <a:p>
                      <a:pPr marL="0" marR="0" lvl="0" indent="0" algn="l" rtl="0">
                        <a:spcBef>
                          <a:spcPts val="0"/>
                        </a:spcBef>
                        <a:spcAft>
                          <a:spcPts val="0"/>
                        </a:spcAft>
                        <a:buNone/>
                      </a:pPr>
                      <a:r>
                        <a:rPr lang="en-US" sz="1800" b="0" i="0" u="none" strike="noStrike" cap="none" dirty="0">
                          <a:solidFill>
                            <a:srgbClr val="FFFFFF"/>
                          </a:solidFill>
                          <a:latin typeface="Times New Roman"/>
                          <a:ea typeface="Times New Roman"/>
                          <a:cs typeface="Times New Roman"/>
                          <a:sym typeface="Times New Roman"/>
                        </a:rPr>
                        <a:t>To track climate acutely and generate heat map</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tx1"/>
                    </a:solidFill>
                  </a:tcPr>
                </a:tc>
                <a:extLst>
                  <a:ext uri="{0D108BD9-81ED-4DB2-BD59-A6C34878D82A}">
                    <a16:rowId xmlns:a16="http://schemas.microsoft.com/office/drawing/2014/main" val="10004"/>
                  </a:ext>
                </a:extLst>
              </a:tr>
              <a:tr h="874191">
                <a:tc>
                  <a:txBody>
                    <a:bodyPr/>
                    <a:lstStyle/>
                    <a:p>
                      <a:pPr marL="0" marR="0" lvl="0" indent="0" algn="l" rtl="0">
                        <a:spcBef>
                          <a:spcPts val="0"/>
                        </a:spcBef>
                        <a:spcAft>
                          <a:spcPts val="0"/>
                        </a:spcAft>
                        <a:buNone/>
                      </a:pPr>
                      <a:r>
                        <a:rPr lang="en-US" sz="1800" b="0" i="0" u="none" strike="noStrike" cap="none">
                          <a:solidFill>
                            <a:srgbClr val="FFFFFF"/>
                          </a:solidFill>
                          <a:latin typeface="Times New Roman"/>
                          <a:ea typeface="Times New Roman"/>
                          <a:cs typeface="Times New Roman"/>
                          <a:sym typeface="Times New Roman"/>
                        </a:rPr>
                        <a:t>Digital Twin Stack</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tx1"/>
                    </a:solidFill>
                  </a:tcPr>
                </a:tc>
                <a:tc>
                  <a:txBody>
                    <a:bodyPr/>
                    <a:lstStyle/>
                    <a:p>
                      <a:pPr marL="0" marR="0" lvl="0" indent="0" algn="l" rtl="0">
                        <a:spcBef>
                          <a:spcPts val="0"/>
                        </a:spcBef>
                        <a:spcAft>
                          <a:spcPts val="0"/>
                        </a:spcAft>
                        <a:buNone/>
                      </a:pPr>
                      <a:r>
                        <a:rPr lang="en-US" sz="1800" b="0" i="0" u="none" strike="noStrike" cap="none">
                          <a:solidFill>
                            <a:srgbClr val="FFFFFF"/>
                          </a:solidFill>
                          <a:latin typeface="Times New Roman"/>
                          <a:ea typeface="Times New Roman"/>
                          <a:cs typeface="Times New Roman"/>
                          <a:sym typeface="Times New Roman"/>
                        </a:rPr>
                        <a:t>Three.js, R3F, Next.js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tx1"/>
                    </a:solidFill>
                  </a:tcPr>
                </a:tc>
                <a:tc>
                  <a:txBody>
                    <a:bodyPr/>
                    <a:lstStyle/>
                    <a:p>
                      <a:pPr marL="0" marR="0" lvl="0" indent="0" algn="l" rtl="0">
                        <a:spcBef>
                          <a:spcPts val="0"/>
                        </a:spcBef>
                        <a:spcAft>
                          <a:spcPts val="0"/>
                        </a:spcAft>
                        <a:buNone/>
                      </a:pPr>
                      <a:r>
                        <a:rPr lang="en-US" sz="1800" b="0" i="0" u="none" strike="noStrike" cap="none" dirty="0">
                          <a:solidFill>
                            <a:srgbClr val="FFFFFF"/>
                          </a:solidFill>
                          <a:latin typeface="Times New Roman"/>
                          <a:ea typeface="Times New Roman"/>
                          <a:cs typeface="Times New Roman"/>
                          <a:sym typeface="Times New Roman"/>
                        </a:rPr>
                        <a:t>3D visual workspace, dynamic </a:t>
                      </a:r>
                      <a:r>
                        <a:rPr lang="en-US" sz="1800" b="0" i="0" u="none" strike="noStrike" cap="none" dirty="0" err="1">
                          <a:solidFill>
                            <a:srgbClr val="FFFFFF"/>
                          </a:solidFill>
                          <a:latin typeface="Times New Roman"/>
                          <a:ea typeface="Times New Roman"/>
                          <a:cs typeface="Times New Roman"/>
                          <a:sym typeface="Times New Roman"/>
                        </a:rPr>
                        <a:t>heatmaps</a:t>
                      </a:r>
                      <a:r>
                        <a:rPr lang="en-US" sz="1800" b="0" i="0" u="none" strike="noStrike" cap="none" dirty="0">
                          <a:solidFill>
                            <a:srgbClr val="FFFFFF"/>
                          </a:solidFill>
                          <a:latin typeface="Times New Roman"/>
                          <a:ea typeface="Times New Roman"/>
                          <a:cs typeface="Times New Roman"/>
                          <a:sym typeface="Times New Roman"/>
                        </a:rPr>
                        <a:t>, remote UI control</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tx1"/>
                    </a:solidFill>
                  </a:tcPr>
                </a:tc>
                <a:extLst>
                  <a:ext uri="{0D108BD9-81ED-4DB2-BD59-A6C34878D82A}">
                    <a16:rowId xmlns:a16="http://schemas.microsoft.com/office/drawing/2014/main" val="10005"/>
                  </a:ext>
                </a:extLst>
              </a:tr>
            </a:tbl>
          </a:graphicData>
        </a:graphic>
      </p:graphicFrame>
      <p:sp>
        <p:nvSpPr>
          <p:cNvPr id="235" name="Google Shape;235;p20"/>
          <p:cNvSpPr txBox="1"/>
          <p:nvPr/>
        </p:nvSpPr>
        <p:spPr>
          <a:xfrm>
            <a:off x="571500" y="571500"/>
            <a:ext cx="11601450" cy="609398"/>
          </a:xfrm>
          <a:prstGeom prst="rect">
            <a:avLst/>
          </a:prstGeom>
          <a:noFill/>
          <a:ln>
            <a:noFill/>
          </a:ln>
        </p:spPr>
        <p:txBody>
          <a:bodyPr spcFirstLastPara="1" wrap="square" lIns="0" tIns="0" rIns="0" bIns="0" anchor="t" anchorCtr="0">
            <a:spAutoFit/>
          </a:bodyPr>
          <a:lstStyle/>
          <a:p>
            <a:pPr marL="0" marR="0" lvl="0" indent="0" algn="ctr" rtl="0">
              <a:lnSpc>
                <a:spcPct val="109972"/>
              </a:lnSpc>
              <a:spcBef>
                <a:spcPts val="0"/>
              </a:spcBef>
              <a:spcAft>
                <a:spcPts val="0"/>
              </a:spcAft>
              <a:buNone/>
            </a:pPr>
            <a:r>
              <a:rPr lang="en-US" sz="3600" b="1" i="0" u="none" strike="noStrike" cap="none" dirty="0">
                <a:solidFill>
                  <a:srgbClr val="00FFCC"/>
                </a:solidFill>
                <a:latin typeface="Arial"/>
                <a:ea typeface="Arial"/>
                <a:cs typeface="Arial"/>
                <a:sym typeface="Arial"/>
              </a:rPr>
              <a:t>Technical Specifications</a:t>
            </a:r>
            <a:endParaRPr dirty="0"/>
          </a:p>
        </p:txBody>
      </p:sp>
      <p:sp>
        <p:nvSpPr>
          <p:cNvPr id="236" name="Google Shape;236;p20"/>
          <p:cNvSpPr/>
          <p:nvPr/>
        </p:nvSpPr>
        <p:spPr>
          <a:xfrm>
            <a:off x="571500" y="1217265"/>
            <a:ext cx="11049000" cy="19050"/>
          </a:xfrm>
          <a:prstGeom prst="rect">
            <a:avLst/>
          </a:prstGeom>
          <a:solidFill>
            <a:srgbClr val="30363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Shape 133"/>
        <p:cNvGrpSpPr/>
        <p:nvPr/>
      </p:nvGrpSpPr>
      <p:grpSpPr>
        <a:xfrm>
          <a:off x="0" y="0"/>
          <a:ext cx="0" cy="0"/>
          <a:chOff x="0" y="0"/>
          <a:chExt cx="0" cy="0"/>
        </a:xfrm>
      </p:grpSpPr>
      <p:sp>
        <p:nvSpPr>
          <p:cNvPr id="151" name="Google Shape;151;p16"/>
          <p:cNvSpPr txBox="1"/>
          <p:nvPr/>
        </p:nvSpPr>
        <p:spPr>
          <a:xfrm>
            <a:off x="295275" y="184630"/>
            <a:ext cx="11601450" cy="541687"/>
          </a:xfrm>
          <a:prstGeom prst="rect">
            <a:avLst/>
          </a:prstGeom>
          <a:noFill/>
          <a:ln>
            <a:noFill/>
          </a:ln>
        </p:spPr>
        <p:txBody>
          <a:bodyPr spcFirstLastPara="1" wrap="square" lIns="0" tIns="0" rIns="0" bIns="0" anchor="t" anchorCtr="0">
            <a:spAutoFit/>
          </a:bodyPr>
          <a:lstStyle/>
          <a:p>
            <a:pPr marL="0" marR="0" lvl="0" indent="0" algn="ctr" rtl="0">
              <a:lnSpc>
                <a:spcPct val="109972"/>
              </a:lnSpc>
              <a:spcBef>
                <a:spcPts val="0"/>
              </a:spcBef>
              <a:spcAft>
                <a:spcPts val="0"/>
              </a:spcAft>
              <a:buNone/>
            </a:pPr>
            <a:r>
              <a:rPr lang="en-US" sz="3200" b="1" i="0" u="none" strike="noStrike" cap="none" dirty="0">
                <a:solidFill>
                  <a:srgbClr val="00FFCC"/>
                </a:solidFill>
                <a:latin typeface="Arial"/>
                <a:ea typeface="Arial"/>
                <a:cs typeface="Arial"/>
                <a:sym typeface="Arial"/>
              </a:rPr>
              <a:t>Structural Design</a:t>
            </a:r>
            <a:endParaRPr sz="3200" dirty="0"/>
          </a:p>
        </p:txBody>
      </p:sp>
      <p:pic>
        <p:nvPicPr>
          <p:cNvPr id="7" name="Picture 6">
            <a:extLst>
              <a:ext uri="{FF2B5EF4-FFF2-40B4-BE49-F238E27FC236}">
                <a16:creationId xmlns:a16="http://schemas.microsoft.com/office/drawing/2014/main" id="{4E55CE96-2C57-B55C-98E2-52A753F75635}"/>
              </a:ext>
            </a:extLst>
          </p:cNvPr>
          <p:cNvPicPr>
            <a:picLocks noChangeAspect="1"/>
          </p:cNvPicPr>
          <p:nvPr/>
        </p:nvPicPr>
        <p:blipFill>
          <a:blip r:embed="rId3"/>
          <a:stretch>
            <a:fillRect/>
          </a:stretch>
        </p:blipFill>
        <p:spPr>
          <a:xfrm>
            <a:off x="406656" y="858386"/>
            <a:ext cx="11490069" cy="565026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Shape 133">
          <a:extLst>
            <a:ext uri="{FF2B5EF4-FFF2-40B4-BE49-F238E27FC236}">
              <a16:creationId xmlns:a16="http://schemas.microsoft.com/office/drawing/2014/main" id="{F703E601-A1E7-01AE-B526-A232A673D862}"/>
            </a:ext>
          </a:extLst>
        </p:cNvPr>
        <p:cNvGrpSpPr/>
        <p:nvPr/>
      </p:nvGrpSpPr>
      <p:grpSpPr>
        <a:xfrm>
          <a:off x="0" y="0"/>
          <a:ext cx="0" cy="0"/>
          <a:chOff x="0" y="0"/>
          <a:chExt cx="0" cy="0"/>
        </a:xfrm>
      </p:grpSpPr>
      <p:sp>
        <p:nvSpPr>
          <p:cNvPr id="151" name="Google Shape;151;p16">
            <a:extLst>
              <a:ext uri="{FF2B5EF4-FFF2-40B4-BE49-F238E27FC236}">
                <a16:creationId xmlns:a16="http://schemas.microsoft.com/office/drawing/2014/main" id="{2B29267A-73E3-5167-89A6-9D4ED37E2F75}"/>
              </a:ext>
            </a:extLst>
          </p:cNvPr>
          <p:cNvSpPr txBox="1"/>
          <p:nvPr/>
        </p:nvSpPr>
        <p:spPr>
          <a:xfrm>
            <a:off x="295275" y="208957"/>
            <a:ext cx="11601450" cy="541687"/>
          </a:xfrm>
          <a:prstGeom prst="rect">
            <a:avLst/>
          </a:prstGeom>
          <a:noFill/>
          <a:ln>
            <a:noFill/>
          </a:ln>
        </p:spPr>
        <p:txBody>
          <a:bodyPr spcFirstLastPara="1" wrap="square" lIns="0" tIns="0" rIns="0" bIns="0" anchor="t" anchorCtr="0">
            <a:spAutoFit/>
          </a:bodyPr>
          <a:lstStyle/>
          <a:p>
            <a:pPr marL="0" marR="0" lvl="0" indent="0" algn="ctr" rtl="0">
              <a:lnSpc>
                <a:spcPct val="109972"/>
              </a:lnSpc>
              <a:spcBef>
                <a:spcPts val="0"/>
              </a:spcBef>
              <a:spcAft>
                <a:spcPts val="0"/>
              </a:spcAft>
              <a:buNone/>
            </a:pPr>
            <a:r>
              <a:rPr lang="en-US" sz="3200" b="1" i="0" u="none" strike="noStrike" cap="none" dirty="0">
                <a:solidFill>
                  <a:srgbClr val="00FFCC"/>
                </a:solidFill>
                <a:latin typeface="Arial"/>
                <a:ea typeface="Arial"/>
                <a:cs typeface="Arial"/>
                <a:sym typeface="Arial"/>
              </a:rPr>
              <a:t>Structural Design</a:t>
            </a:r>
            <a:endParaRPr sz="3200" dirty="0"/>
          </a:p>
        </p:txBody>
      </p:sp>
      <p:sp>
        <p:nvSpPr>
          <p:cNvPr id="152" name="Google Shape;152;p16">
            <a:extLst>
              <a:ext uri="{FF2B5EF4-FFF2-40B4-BE49-F238E27FC236}">
                <a16:creationId xmlns:a16="http://schemas.microsoft.com/office/drawing/2014/main" id="{16C6F294-C188-FAF6-B874-CF386772A179}"/>
              </a:ext>
            </a:extLst>
          </p:cNvPr>
          <p:cNvSpPr/>
          <p:nvPr/>
        </p:nvSpPr>
        <p:spPr>
          <a:xfrm>
            <a:off x="548640" y="761365"/>
            <a:ext cx="11049000" cy="19050"/>
          </a:xfrm>
          <a:prstGeom prst="rect">
            <a:avLst/>
          </a:prstGeom>
          <a:solidFill>
            <a:srgbClr val="30363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 name="Google Shape;152;p16">
            <a:extLst>
              <a:ext uri="{FF2B5EF4-FFF2-40B4-BE49-F238E27FC236}">
                <a16:creationId xmlns:a16="http://schemas.microsoft.com/office/drawing/2014/main" id="{EDFF0130-95D6-7AAE-C389-FB62C75A6F7C}"/>
              </a:ext>
            </a:extLst>
          </p:cNvPr>
          <p:cNvSpPr/>
          <p:nvPr/>
        </p:nvSpPr>
        <p:spPr>
          <a:xfrm rot="5400000" flipV="1">
            <a:off x="3170473" y="3783761"/>
            <a:ext cx="5805334" cy="45719"/>
          </a:xfrm>
          <a:prstGeom prst="rect">
            <a:avLst/>
          </a:prstGeom>
          <a:solidFill>
            <a:srgbClr val="30363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4" name="Picture 3">
            <a:extLst>
              <a:ext uri="{FF2B5EF4-FFF2-40B4-BE49-F238E27FC236}">
                <a16:creationId xmlns:a16="http://schemas.microsoft.com/office/drawing/2014/main" id="{85E2C744-8B38-803B-D8F3-F1E21C85AD3F}"/>
              </a:ext>
            </a:extLst>
          </p:cNvPr>
          <p:cNvPicPr>
            <a:picLocks noChangeAspect="1"/>
          </p:cNvPicPr>
          <p:nvPr/>
        </p:nvPicPr>
        <p:blipFill>
          <a:blip r:embed="rId3"/>
          <a:stretch>
            <a:fillRect/>
          </a:stretch>
        </p:blipFill>
        <p:spPr>
          <a:xfrm>
            <a:off x="834076" y="1030245"/>
            <a:ext cx="4600704" cy="5331596"/>
          </a:xfrm>
          <a:prstGeom prst="rect">
            <a:avLst/>
          </a:prstGeom>
        </p:spPr>
      </p:pic>
      <p:pic>
        <p:nvPicPr>
          <p:cNvPr id="7" name="Picture 6">
            <a:extLst>
              <a:ext uri="{FF2B5EF4-FFF2-40B4-BE49-F238E27FC236}">
                <a16:creationId xmlns:a16="http://schemas.microsoft.com/office/drawing/2014/main" id="{6538B9B3-85B8-4391-CA52-30EFEF74E74D}"/>
              </a:ext>
            </a:extLst>
          </p:cNvPr>
          <p:cNvPicPr>
            <a:picLocks noChangeAspect="1"/>
          </p:cNvPicPr>
          <p:nvPr/>
        </p:nvPicPr>
        <p:blipFill>
          <a:blip r:embed="rId4"/>
          <a:stretch>
            <a:fillRect/>
          </a:stretch>
        </p:blipFill>
        <p:spPr>
          <a:xfrm>
            <a:off x="6711500" y="1030245"/>
            <a:ext cx="4490882" cy="5347954"/>
          </a:xfrm>
          <a:prstGeom prst="rect">
            <a:avLst/>
          </a:prstGeom>
        </p:spPr>
      </p:pic>
    </p:spTree>
    <p:extLst>
      <p:ext uri="{BB962C8B-B14F-4D97-AF65-F5344CB8AC3E}">
        <p14:creationId xmlns:p14="http://schemas.microsoft.com/office/powerpoint/2010/main" val="3199660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Shape 133">
          <a:extLst>
            <a:ext uri="{FF2B5EF4-FFF2-40B4-BE49-F238E27FC236}">
              <a16:creationId xmlns:a16="http://schemas.microsoft.com/office/drawing/2014/main" id="{6ED19DBD-C9D7-613B-6C11-FC35A0D6FDDC}"/>
            </a:ext>
          </a:extLst>
        </p:cNvPr>
        <p:cNvGrpSpPr/>
        <p:nvPr/>
      </p:nvGrpSpPr>
      <p:grpSpPr>
        <a:xfrm>
          <a:off x="0" y="0"/>
          <a:ext cx="0" cy="0"/>
          <a:chOff x="0" y="0"/>
          <a:chExt cx="0" cy="0"/>
        </a:xfrm>
      </p:grpSpPr>
      <p:sp>
        <p:nvSpPr>
          <p:cNvPr id="151" name="Google Shape;151;p16">
            <a:extLst>
              <a:ext uri="{FF2B5EF4-FFF2-40B4-BE49-F238E27FC236}">
                <a16:creationId xmlns:a16="http://schemas.microsoft.com/office/drawing/2014/main" id="{78352F03-FCFF-3974-47B5-F161E2A54EDF}"/>
              </a:ext>
            </a:extLst>
          </p:cNvPr>
          <p:cNvSpPr txBox="1"/>
          <p:nvPr/>
        </p:nvSpPr>
        <p:spPr>
          <a:xfrm>
            <a:off x="295275" y="96140"/>
            <a:ext cx="11601450" cy="541687"/>
          </a:xfrm>
          <a:prstGeom prst="rect">
            <a:avLst/>
          </a:prstGeom>
          <a:noFill/>
          <a:ln>
            <a:noFill/>
          </a:ln>
        </p:spPr>
        <p:txBody>
          <a:bodyPr spcFirstLastPara="1" wrap="square" lIns="0" tIns="0" rIns="0" bIns="0" anchor="t" anchorCtr="0">
            <a:spAutoFit/>
          </a:bodyPr>
          <a:lstStyle/>
          <a:p>
            <a:pPr marL="0" marR="0" lvl="0" indent="0" algn="ctr" rtl="0">
              <a:lnSpc>
                <a:spcPct val="109972"/>
              </a:lnSpc>
              <a:spcBef>
                <a:spcPts val="0"/>
              </a:spcBef>
              <a:spcAft>
                <a:spcPts val="0"/>
              </a:spcAft>
              <a:buNone/>
            </a:pPr>
            <a:r>
              <a:rPr lang="en-US" sz="3200" b="1" i="0" u="none" strike="noStrike" cap="none" dirty="0">
                <a:solidFill>
                  <a:srgbClr val="00FFCC"/>
                </a:solidFill>
                <a:latin typeface="Arial"/>
                <a:ea typeface="Arial"/>
                <a:cs typeface="Arial"/>
                <a:sym typeface="Arial"/>
              </a:rPr>
              <a:t>Closed Loop Simulation</a:t>
            </a:r>
            <a:endParaRPr sz="3200" dirty="0"/>
          </a:p>
        </p:txBody>
      </p:sp>
      <p:sp>
        <p:nvSpPr>
          <p:cNvPr id="152" name="Google Shape;152;p16">
            <a:extLst>
              <a:ext uri="{FF2B5EF4-FFF2-40B4-BE49-F238E27FC236}">
                <a16:creationId xmlns:a16="http://schemas.microsoft.com/office/drawing/2014/main" id="{985A64E4-817D-B72E-84F4-75C0C76253D9}"/>
              </a:ext>
            </a:extLst>
          </p:cNvPr>
          <p:cNvSpPr/>
          <p:nvPr/>
        </p:nvSpPr>
        <p:spPr>
          <a:xfrm>
            <a:off x="571500" y="690400"/>
            <a:ext cx="11049000" cy="19050"/>
          </a:xfrm>
          <a:prstGeom prst="rect">
            <a:avLst/>
          </a:prstGeom>
          <a:solidFill>
            <a:srgbClr val="30363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4703766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Shape 240"/>
        <p:cNvGrpSpPr/>
        <p:nvPr/>
      </p:nvGrpSpPr>
      <p:grpSpPr>
        <a:xfrm>
          <a:off x="0" y="0"/>
          <a:ext cx="0" cy="0"/>
          <a:chOff x="0" y="0"/>
          <a:chExt cx="0" cy="0"/>
        </a:xfrm>
      </p:grpSpPr>
      <p:sp>
        <p:nvSpPr>
          <p:cNvPr id="257" name="Google Shape;257;p21"/>
          <p:cNvSpPr txBox="1"/>
          <p:nvPr/>
        </p:nvSpPr>
        <p:spPr>
          <a:xfrm>
            <a:off x="571500" y="252176"/>
            <a:ext cx="11049000" cy="541687"/>
          </a:xfrm>
          <a:prstGeom prst="rect">
            <a:avLst/>
          </a:prstGeom>
          <a:noFill/>
          <a:ln>
            <a:noFill/>
          </a:ln>
        </p:spPr>
        <p:txBody>
          <a:bodyPr spcFirstLastPara="1" wrap="square" lIns="0" tIns="0" rIns="0" bIns="0" anchor="t" anchorCtr="0">
            <a:spAutoFit/>
          </a:bodyPr>
          <a:lstStyle/>
          <a:p>
            <a:pPr marL="0" marR="0" lvl="0" indent="0" algn="ctr" rtl="0">
              <a:lnSpc>
                <a:spcPct val="109972"/>
              </a:lnSpc>
              <a:spcBef>
                <a:spcPts val="0"/>
              </a:spcBef>
              <a:spcAft>
                <a:spcPts val="0"/>
              </a:spcAft>
              <a:buNone/>
            </a:pPr>
            <a:r>
              <a:rPr lang="en-US" sz="3200" b="1" i="0" u="none" strike="noStrike" cap="none" dirty="0">
                <a:solidFill>
                  <a:srgbClr val="00FFCC"/>
                </a:solidFill>
                <a:latin typeface="Arial"/>
                <a:ea typeface="Arial"/>
                <a:cs typeface="Arial"/>
                <a:sym typeface="Arial"/>
              </a:rPr>
              <a:t>Control Flow</a:t>
            </a:r>
            <a:endParaRPr sz="3200" dirty="0"/>
          </a:p>
        </p:txBody>
      </p:sp>
      <p:sp>
        <p:nvSpPr>
          <p:cNvPr id="258" name="Google Shape;258;p21"/>
          <p:cNvSpPr/>
          <p:nvPr/>
        </p:nvSpPr>
        <p:spPr>
          <a:xfrm>
            <a:off x="561819" y="837779"/>
            <a:ext cx="11049000" cy="19050"/>
          </a:xfrm>
          <a:prstGeom prst="rect">
            <a:avLst/>
          </a:prstGeom>
          <a:solidFill>
            <a:srgbClr val="30363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 name="Google Shape;160;p17">
            <a:extLst>
              <a:ext uri="{FF2B5EF4-FFF2-40B4-BE49-F238E27FC236}">
                <a16:creationId xmlns:a16="http://schemas.microsoft.com/office/drawing/2014/main" id="{8FEDFD34-2424-173E-118E-A516283F0E9D}"/>
              </a:ext>
            </a:extLst>
          </p:cNvPr>
          <p:cNvSpPr txBox="1"/>
          <p:nvPr/>
        </p:nvSpPr>
        <p:spPr>
          <a:xfrm>
            <a:off x="561820" y="1002387"/>
            <a:ext cx="7343468" cy="369332"/>
          </a:xfrm>
          <a:prstGeom prst="rect">
            <a:avLst/>
          </a:prstGeom>
          <a:noFill/>
          <a:ln>
            <a:noFill/>
          </a:ln>
        </p:spPr>
        <p:txBody>
          <a:bodyPr spcFirstLastPara="1" wrap="square" lIns="0" tIns="0" rIns="0" bIns="0" anchor="t" anchorCtr="0">
            <a:spAutoFit/>
          </a:bodyPr>
          <a:lstStyle/>
          <a:p>
            <a:pPr lvl="0"/>
            <a:r>
              <a:rPr lang="en-IN" sz="2400" b="1" dirty="0">
                <a:solidFill>
                  <a:srgbClr val="00FFCC"/>
                </a:solidFill>
              </a:rPr>
              <a:t>The Rover Hardware and Compute Unit</a:t>
            </a:r>
            <a:endParaRPr b="1" dirty="0">
              <a:solidFill>
                <a:srgbClr val="00FFCC"/>
              </a:solidFill>
            </a:endParaRPr>
          </a:p>
        </p:txBody>
      </p:sp>
      <p:sp>
        <p:nvSpPr>
          <p:cNvPr id="5" name="Google Shape;161;p17">
            <a:extLst>
              <a:ext uri="{FF2B5EF4-FFF2-40B4-BE49-F238E27FC236}">
                <a16:creationId xmlns:a16="http://schemas.microsoft.com/office/drawing/2014/main" id="{86D9290D-4836-9B2F-45FD-931B2BB0CF58}"/>
              </a:ext>
            </a:extLst>
          </p:cNvPr>
          <p:cNvSpPr txBox="1"/>
          <p:nvPr/>
        </p:nvSpPr>
        <p:spPr>
          <a:xfrm>
            <a:off x="561819" y="1431032"/>
            <a:ext cx="11011053" cy="1384995"/>
          </a:xfrm>
          <a:prstGeom prst="rect">
            <a:avLst/>
          </a:prstGeom>
          <a:noFill/>
          <a:ln>
            <a:noFill/>
          </a:ln>
        </p:spPr>
        <p:txBody>
          <a:bodyPr spcFirstLastPara="1" wrap="square" lIns="0" tIns="0" rIns="0" bIns="0" anchor="t" anchorCtr="0">
            <a:spAutoFit/>
          </a:bodyPr>
          <a:lstStyle/>
          <a:p>
            <a:pPr lvl="0"/>
            <a:r>
              <a:rPr lang="en-IN" sz="1800" dirty="0">
                <a:solidFill>
                  <a:schemeClr val="bg1"/>
                </a:solidFill>
              </a:rPr>
              <a:t>The physical rover acts as the primary data collection and execution layer where the dual core ESP32 S3 processes everything on the edge. One core manages the real time control by polling the DHT22 climate sensor and the soil pH sensor while also sending PWM signals to the L298N motor drivers for physical movement. The second core takes care of the computer vision pipelines and prepares the structured telemetry payloads.</a:t>
            </a:r>
            <a:endParaRPr sz="1800" dirty="0">
              <a:solidFill>
                <a:schemeClr val="bg1"/>
              </a:solidFill>
            </a:endParaRPr>
          </a:p>
        </p:txBody>
      </p:sp>
      <p:sp>
        <p:nvSpPr>
          <p:cNvPr id="7" name="Google Shape;162;p17">
            <a:extLst>
              <a:ext uri="{FF2B5EF4-FFF2-40B4-BE49-F238E27FC236}">
                <a16:creationId xmlns:a16="http://schemas.microsoft.com/office/drawing/2014/main" id="{D3590A34-B82C-CE09-0770-3C4CAB2A92FE}"/>
              </a:ext>
            </a:extLst>
          </p:cNvPr>
          <p:cNvSpPr txBox="1"/>
          <p:nvPr/>
        </p:nvSpPr>
        <p:spPr>
          <a:xfrm>
            <a:off x="561819" y="2961586"/>
            <a:ext cx="7166487" cy="369332"/>
          </a:xfrm>
          <a:prstGeom prst="rect">
            <a:avLst/>
          </a:prstGeom>
          <a:noFill/>
          <a:ln>
            <a:noFill/>
          </a:ln>
        </p:spPr>
        <p:txBody>
          <a:bodyPr spcFirstLastPara="1" wrap="square" lIns="0" tIns="0" rIns="0" bIns="0" anchor="t" anchorCtr="0">
            <a:spAutoFit/>
          </a:bodyPr>
          <a:lstStyle/>
          <a:p>
            <a:pPr lvl="0"/>
            <a:r>
              <a:rPr lang="en-IN" sz="2400" b="1" dirty="0">
                <a:solidFill>
                  <a:srgbClr val="00FFCC"/>
                </a:solidFill>
              </a:rPr>
              <a:t>The Telemetry and Network Layer</a:t>
            </a:r>
            <a:endParaRPr b="1" dirty="0">
              <a:solidFill>
                <a:srgbClr val="00FFCC"/>
              </a:solidFill>
            </a:endParaRPr>
          </a:p>
        </p:txBody>
      </p:sp>
      <p:sp>
        <p:nvSpPr>
          <p:cNvPr id="9" name="Google Shape;163;p17">
            <a:extLst>
              <a:ext uri="{FF2B5EF4-FFF2-40B4-BE49-F238E27FC236}">
                <a16:creationId xmlns:a16="http://schemas.microsoft.com/office/drawing/2014/main" id="{3EDF1E68-2B40-0934-0C7F-31935F981D55}"/>
              </a:ext>
            </a:extLst>
          </p:cNvPr>
          <p:cNvSpPr txBox="1"/>
          <p:nvPr/>
        </p:nvSpPr>
        <p:spPr>
          <a:xfrm>
            <a:off x="552138" y="3403199"/>
            <a:ext cx="11011053" cy="1107996"/>
          </a:xfrm>
          <a:prstGeom prst="rect">
            <a:avLst/>
          </a:prstGeom>
          <a:noFill/>
          <a:ln>
            <a:noFill/>
          </a:ln>
        </p:spPr>
        <p:txBody>
          <a:bodyPr spcFirstLastPara="1" wrap="square" lIns="0" tIns="0" rIns="0" bIns="0" anchor="t" anchorCtr="0">
            <a:spAutoFit/>
          </a:bodyPr>
          <a:lstStyle/>
          <a:p>
            <a:pPr lvl="0"/>
            <a:r>
              <a:rPr lang="en-IN" sz="1800" dirty="0">
                <a:solidFill>
                  <a:schemeClr val="bg1"/>
                </a:solidFill>
              </a:rPr>
              <a:t>This unit acts as the bridge between the physical rover and the digital interface. The compute unit packages the physical sensor data into JSON payloads and publishes them upstream to an MQTT broker over </a:t>
            </a:r>
            <a:r>
              <a:rPr lang="en-IN" sz="1800" dirty="0" err="1">
                <a:solidFill>
                  <a:schemeClr val="bg1"/>
                </a:solidFill>
              </a:rPr>
              <a:t>WiFi</a:t>
            </a:r>
            <a:r>
              <a:rPr lang="en-IN" sz="1800" dirty="0">
                <a:solidFill>
                  <a:schemeClr val="bg1"/>
                </a:solidFill>
              </a:rPr>
              <a:t>. At the same time the network actively listens for downstream manual drive commands sent via </a:t>
            </a:r>
            <a:r>
              <a:rPr lang="en-IN" sz="1800" dirty="0" err="1">
                <a:solidFill>
                  <a:schemeClr val="bg1"/>
                </a:solidFill>
              </a:rPr>
              <a:t>WebSockets</a:t>
            </a:r>
            <a:r>
              <a:rPr lang="en-IN" sz="1800" dirty="0">
                <a:solidFill>
                  <a:schemeClr val="bg1"/>
                </a:solidFill>
              </a:rPr>
              <a:t> and this allows low latency remote control of the rover. </a:t>
            </a:r>
            <a:endParaRPr sz="1800" dirty="0">
              <a:solidFill>
                <a:schemeClr val="bg1"/>
              </a:solidFill>
            </a:endParaRPr>
          </a:p>
        </p:txBody>
      </p:sp>
      <p:sp>
        <p:nvSpPr>
          <p:cNvPr id="11" name="Google Shape;164;p17">
            <a:extLst>
              <a:ext uri="{FF2B5EF4-FFF2-40B4-BE49-F238E27FC236}">
                <a16:creationId xmlns:a16="http://schemas.microsoft.com/office/drawing/2014/main" id="{84206B30-1EDA-3972-AC10-D4F5D6E96A46}"/>
              </a:ext>
            </a:extLst>
          </p:cNvPr>
          <p:cNvSpPr txBox="1"/>
          <p:nvPr/>
        </p:nvSpPr>
        <p:spPr>
          <a:xfrm>
            <a:off x="561819" y="4669895"/>
            <a:ext cx="6871366" cy="369332"/>
          </a:xfrm>
          <a:prstGeom prst="rect">
            <a:avLst/>
          </a:prstGeom>
          <a:noFill/>
          <a:ln>
            <a:noFill/>
          </a:ln>
        </p:spPr>
        <p:txBody>
          <a:bodyPr spcFirstLastPara="1" wrap="square" lIns="0" tIns="0" rIns="0" bIns="0" anchor="t" anchorCtr="0">
            <a:spAutoFit/>
          </a:bodyPr>
          <a:lstStyle/>
          <a:p>
            <a:pPr lvl="0"/>
            <a:r>
              <a:rPr lang="en-IN" sz="2400" b="1" dirty="0">
                <a:solidFill>
                  <a:srgbClr val="00FFCC"/>
                </a:solidFill>
              </a:rPr>
              <a:t>The Digital Twin and Frontend Interface</a:t>
            </a:r>
            <a:endParaRPr b="1" dirty="0">
              <a:solidFill>
                <a:srgbClr val="00FFCC"/>
              </a:solidFill>
            </a:endParaRPr>
          </a:p>
        </p:txBody>
      </p:sp>
      <p:sp>
        <p:nvSpPr>
          <p:cNvPr id="13" name="Google Shape;165;p17">
            <a:extLst>
              <a:ext uri="{FF2B5EF4-FFF2-40B4-BE49-F238E27FC236}">
                <a16:creationId xmlns:a16="http://schemas.microsoft.com/office/drawing/2014/main" id="{E4956A0A-7EAC-5A48-A454-095A42BEBD49}"/>
              </a:ext>
            </a:extLst>
          </p:cNvPr>
          <p:cNvSpPr txBox="1"/>
          <p:nvPr/>
        </p:nvSpPr>
        <p:spPr>
          <a:xfrm>
            <a:off x="561819" y="5190694"/>
            <a:ext cx="11011053" cy="1107996"/>
          </a:xfrm>
          <a:prstGeom prst="rect">
            <a:avLst/>
          </a:prstGeom>
          <a:noFill/>
          <a:ln>
            <a:noFill/>
          </a:ln>
        </p:spPr>
        <p:txBody>
          <a:bodyPr spcFirstLastPara="1" wrap="square" lIns="0" tIns="0" rIns="0" bIns="0" anchor="t" anchorCtr="0">
            <a:spAutoFit/>
          </a:bodyPr>
          <a:lstStyle/>
          <a:p>
            <a:pPr lvl="0"/>
            <a:r>
              <a:rPr lang="en-IN" sz="1800" dirty="0">
                <a:solidFill>
                  <a:schemeClr val="bg1"/>
                </a:solidFill>
              </a:rPr>
              <a:t>The web application receives the live telemetry from the MQTT broker and routes it through a state manager. The incoming IMU data continuously updates the 3D kinematic model so the virtual rover matches the exact pose and orientation of the physical rover. The interface also processes the incoming climate and soil pH data to render dynamic spatial heatmaps on the screen so the user can </a:t>
            </a:r>
            <a:r>
              <a:rPr lang="en-IN" sz="1800" dirty="0" err="1">
                <a:solidFill>
                  <a:schemeClr val="bg1"/>
                </a:solidFill>
              </a:rPr>
              <a:t>analyze</a:t>
            </a:r>
            <a:r>
              <a:rPr lang="en-IN" sz="1800" dirty="0">
                <a:solidFill>
                  <a:schemeClr val="bg1"/>
                </a:solidFill>
              </a:rPr>
              <a:t> the field conditions.</a:t>
            </a:r>
            <a:endParaRPr sz="1800" dirty="0">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130</TotalTime>
  <Words>685</Words>
  <Application>Microsoft Office PowerPoint</Application>
  <PresentationFormat>Widescreen</PresentationFormat>
  <Paragraphs>65</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Anamithra Govindarajan</dc:creator>
  <cp:lastModifiedBy>Anamithra Govindarajan</cp:lastModifiedBy>
  <cp:revision>9</cp:revision>
  <dcterms:modified xsi:type="dcterms:W3CDTF">2026-09-22T16:49:25Z</dcterms:modified>
</cp:coreProperties>
</file>